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14"/>
  </p:notesMasterIdLst>
  <p:sldIdLst>
    <p:sldId id="256" r:id="rId2"/>
    <p:sldId id="257" r:id="rId3"/>
    <p:sldId id="258" r:id="rId4"/>
    <p:sldId id="269" r:id="rId5"/>
    <p:sldId id="270" r:id="rId6"/>
    <p:sldId id="260" r:id="rId7"/>
    <p:sldId id="271" r:id="rId8"/>
    <p:sldId id="273" r:id="rId9"/>
    <p:sldId id="274" r:id="rId10"/>
    <p:sldId id="265" r:id="rId11"/>
    <p:sldId id="267" r:id="rId12"/>
    <p:sldId id="26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19799BE-5780-4B6F-B05B-CEB9830839AF}"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920FA002-BECD-4C9A-B25C-9D21BD3EB1D9}">
      <dgm:prSet/>
      <dgm:spPr/>
      <dgm:t>
        <a:bodyPr/>
        <a:lstStyle/>
        <a:p>
          <a:r>
            <a:rPr lang="en-US"/>
            <a:t>Fully disabled individuals (ALS, Paralysis, locked-in syndrome) lose the miracle of communication.</a:t>
          </a:r>
        </a:p>
      </dgm:t>
    </dgm:pt>
    <dgm:pt modelId="{C0DE9851-FB2D-4B16-B72C-FE0BDB819C5E}" type="parTrans" cxnId="{54815873-FF18-42B2-94D7-5E0E26B582B0}">
      <dgm:prSet/>
      <dgm:spPr/>
      <dgm:t>
        <a:bodyPr/>
        <a:lstStyle/>
        <a:p>
          <a:endParaRPr lang="en-US"/>
        </a:p>
      </dgm:t>
    </dgm:pt>
    <dgm:pt modelId="{3528C065-D83E-4E7E-B91B-C1F5A2EC5769}" type="sibTrans" cxnId="{54815873-FF18-42B2-94D7-5E0E26B582B0}">
      <dgm:prSet phldrT="01" phldr="0"/>
      <dgm:spPr/>
      <dgm:t>
        <a:bodyPr/>
        <a:lstStyle/>
        <a:p>
          <a:r>
            <a:rPr lang="en-US"/>
            <a:t>01</a:t>
          </a:r>
        </a:p>
      </dgm:t>
    </dgm:pt>
    <dgm:pt modelId="{0ADD596A-301B-498C-A621-68541C98862D}">
      <dgm:prSet/>
      <dgm:spPr/>
      <dgm:t>
        <a:bodyPr/>
        <a:lstStyle/>
        <a:p>
          <a:r>
            <a:rPr lang="en-US"/>
            <a:t>Existing solutions are often bulky and expensive.</a:t>
          </a:r>
        </a:p>
      </dgm:t>
    </dgm:pt>
    <dgm:pt modelId="{8EE4A56F-64E0-4810-B150-5B5089840393}" type="parTrans" cxnId="{6EEA0937-8AE9-451D-8567-2FC711087DF5}">
      <dgm:prSet/>
      <dgm:spPr/>
      <dgm:t>
        <a:bodyPr/>
        <a:lstStyle/>
        <a:p>
          <a:endParaRPr lang="en-US"/>
        </a:p>
      </dgm:t>
    </dgm:pt>
    <dgm:pt modelId="{5A9E5D47-80EE-4DEE-AAE4-616A264D5889}" type="sibTrans" cxnId="{6EEA0937-8AE9-451D-8567-2FC711087DF5}">
      <dgm:prSet phldrT="02" phldr="0"/>
      <dgm:spPr/>
      <dgm:t>
        <a:bodyPr/>
        <a:lstStyle/>
        <a:p>
          <a:r>
            <a:rPr lang="en-US"/>
            <a:t>02</a:t>
          </a:r>
        </a:p>
      </dgm:t>
    </dgm:pt>
    <dgm:pt modelId="{BBAD85AC-8609-4C50-A1F8-F016F3551ECE}">
      <dgm:prSet/>
      <dgm:spPr/>
      <dgm:t>
        <a:bodyPr/>
        <a:lstStyle/>
        <a:p>
          <a:r>
            <a:rPr lang="en-US"/>
            <a:t>Limited access to affordable communication technology in Egypt.</a:t>
          </a:r>
        </a:p>
      </dgm:t>
    </dgm:pt>
    <dgm:pt modelId="{67250CB7-DAE3-4DBB-AAF9-D88B1EE2E3C4}" type="parTrans" cxnId="{371425D4-12D6-425C-80EC-A3A6E532D33B}">
      <dgm:prSet/>
      <dgm:spPr/>
      <dgm:t>
        <a:bodyPr/>
        <a:lstStyle/>
        <a:p>
          <a:endParaRPr lang="en-US"/>
        </a:p>
      </dgm:t>
    </dgm:pt>
    <dgm:pt modelId="{AB4041F6-D175-4FFF-80E2-433727551D91}" type="sibTrans" cxnId="{371425D4-12D6-425C-80EC-A3A6E532D33B}">
      <dgm:prSet phldrT="03" phldr="0"/>
      <dgm:spPr/>
      <dgm:t>
        <a:bodyPr/>
        <a:lstStyle/>
        <a:p>
          <a:endParaRPr lang="en-US"/>
        </a:p>
      </dgm:t>
    </dgm:pt>
    <dgm:pt modelId="{70F9A86F-118B-4BC5-82B6-A56DFD2D92FE}" type="pres">
      <dgm:prSet presAssocID="{919799BE-5780-4B6F-B05B-CEB9830839AF}" presName="outerComposite" presStyleCnt="0">
        <dgm:presLayoutVars>
          <dgm:chMax val="5"/>
          <dgm:dir/>
          <dgm:resizeHandles val="exact"/>
        </dgm:presLayoutVars>
      </dgm:prSet>
      <dgm:spPr/>
    </dgm:pt>
    <dgm:pt modelId="{C6925B21-5D02-4999-B4E8-09B40B3AF4E8}" type="pres">
      <dgm:prSet presAssocID="{919799BE-5780-4B6F-B05B-CEB9830839AF}" presName="dummyMaxCanvas" presStyleCnt="0">
        <dgm:presLayoutVars/>
      </dgm:prSet>
      <dgm:spPr/>
    </dgm:pt>
    <dgm:pt modelId="{20D41E51-2343-4D2D-8AE1-146CB4FFA78A}" type="pres">
      <dgm:prSet presAssocID="{919799BE-5780-4B6F-B05B-CEB9830839AF}" presName="ThreeNodes_1" presStyleLbl="node1" presStyleIdx="0" presStyleCnt="3">
        <dgm:presLayoutVars>
          <dgm:bulletEnabled val="1"/>
        </dgm:presLayoutVars>
      </dgm:prSet>
      <dgm:spPr/>
    </dgm:pt>
    <dgm:pt modelId="{C801287F-5B44-4CAD-8309-5EFF1BEF6B79}" type="pres">
      <dgm:prSet presAssocID="{919799BE-5780-4B6F-B05B-CEB9830839AF}" presName="ThreeNodes_2" presStyleLbl="node1" presStyleIdx="1" presStyleCnt="3">
        <dgm:presLayoutVars>
          <dgm:bulletEnabled val="1"/>
        </dgm:presLayoutVars>
      </dgm:prSet>
      <dgm:spPr/>
    </dgm:pt>
    <dgm:pt modelId="{35D22B92-E912-4DCA-8C3D-646B9215934C}" type="pres">
      <dgm:prSet presAssocID="{919799BE-5780-4B6F-B05B-CEB9830839AF}" presName="ThreeNodes_3" presStyleLbl="node1" presStyleIdx="2" presStyleCnt="3">
        <dgm:presLayoutVars>
          <dgm:bulletEnabled val="1"/>
        </dgm:presLayoutVars>
      </dgm:prSet>
      <dgm:spPr/>
    </dgm:pt>
    <dgm:pt modelId="{D3279934-403A-43A7-B95B-E2181228F4D7}" type="pres">
      <dgm:prSet presAssocID="{919799BE-5780-4B6F-B05B-CEB9830839AF}" presName="ThreeConn_1-2" presStyleLbl="fgAccFollowNode1" presStyleIdx="0" presStyleCnt="2">
        <dgm:presLayoutVars>
          <dgm:bulletEnabled val="1"/>
        </dgm:presLayoutVars>
      </dgm:prSet>
      <dgm:spPr/>
    </dgm:pt>
    <dgm:pt modelId="{60296135-51A7-4511-BAEC-D878AA3463C8}" type="pres">
      <dgm:prSet presAssocID="{919799BE-5780-4B6F-B05B-CEB9830839AF}" presName="ThreeConn_2-3" presStyleLbl="fgAccFollowNode1" presStyleIdx="1" presStyleCnt="2">
        <dgm:presLayoutVars>
          <dgm:bulletEnabled val="1"/>
        </dgm:presLayoutVars>
      </dgm:prSet>
      <dgm:spPr/>
    </dgm:pt>
    <dgm:pt modelId="{1D7CC99B-A0CA-4728-B43B-AAB08EEA943A}" type="pres">
      <dgm:prSet presAssocID="{919799BE-5780-4B6F-B05B-CEB9830839AF}" presName="ThreeNodes_1_text" presStyleLbl="node1" presStyleIdx="2" presStyleCnt="3">
        <dgm:presLayoutVars>
          <dgm:bulletEnabled val="1"/>
        </dgm:presLayoutVars>
      </dgm:prSet>
      <dgm:spPr/>
    </dgm:pt>
    <dgm:pt modelId="{B9FA0A1A-D715-41B4-9C19-CDFAC2653BB4}" type="pres">
      <dgm:prSet presAssocID="{919799BE-5780-4B6F-B05B-CEB9830839AF}" presName="ThreeNodes_2_text" presStyleLbl="node1" presStyleIdx="2" presStyleCnt="3">
        <dgm:presLayoutVars>
          <dgm:bulletEnabled val="1"/>
        </dgm:presLayoutVars>
      </dgm:prSet>
      <dgm:spPr/>
    </dgm:pt>
    <dgm:pt modelId="{8D346B29-69AB-4D1D-8A69-BF654910A2F6}" type="pres">
      <dgm:prSet presAssocID="{919799BE-5780-4B6F-B05B-CEB9830839AF}" presName="ThreeNodes_3_text" presStyleLbl="node1" presStyleIdx="2" presStyleCnt="3">
        <dgm:presLayoutVars>
          <dgm:bulletEnabled val="1"/>
        </dgm:presLayoutVars>
      </dgm:prSet>
      <dgm:spPr/>
    </dgm:pt>
  </dgm:ptLst>
  <dgm:cxnLst>
    <dgm:cxn modelId="{6EEA0937-8AE9-451D-8567-2FC711087DF5}" srcId="{919799BE-5780-4B6F-B05B-CEB9830839AF}" destId="{0ADD596A-301B-498C-A621-68541C98862D}" srcOrd="1" destOrd="0" parTransId="{8EE4A56F-64E0-4810-B150-5B5089840393}" sibTransId="{5A9E5D47-80EE-4DEE-AAE4-616A264D5889}"/>
    <dgm:cxn modelId="{451CC838-DF53-46DE-B9B7-2FDB1F888DC7}" type="presOf" srcId="{3528C065-D83E-4E7E-B91B-C1F5A2EC5769}" destId="{D3279934-403A-43A7-B95B-E2181228F4D7}" srcOrd="0" destOrd="0" presId="urn:microsoft.com/office/officeart/2005/8/layout/vProcess5"/>
    <dgm:cxn modelId="{8D9C5C3F-DB2D-4E25-8064-110D05708CE6}" type="presOf" srcId="{920FA002-BECD-4C9A-B25C-9D21BD3EB1D9}" destId="{1D7CC99B-A0CA-4728-B43B-AAB08EEA943A}" srcOrd="1" destOrd="0" presId="urn:microsoft.com/office/officeart/2005/8/layout/vProcess5"/>
    <dgm:cxn modelId="{95E4484D-4D3F-4F03-8E87-1D2DB7FE65EE}" type="presOf" srcId="{920FA002-BECD-4C9A-B25C-9D21BD3EB1D9}" destId="{20D41E51-2343-4D2D-8AE1-146CB4FFA78A}" srcOrd="0" destOrd="0" presId="urn:microsoft.com/office/officeart/2005/8/layout/vProcess5"/>
    <dgm:cxn modelId="{54815873-FF18-42B2-94D7-5E0E26B582B0}" srcId="{919799BE-5780-4B6F-B05B-CEB9830839AF}" destId="{920FA002-BECD-4C9A-B25C-9D21BD3EB1D9}" srcOrd="0" destOrd="0" parTransId="{C0DE9851-FB2D-4B16-B72C-FE0BDB819C5E}" sibTransId="{3528C065-D83E-4E7E-B91B-C1F5A2EC5769}"/>
    <dgm:cxn modelId="{2CBCD983-BCE1-4187-9E98-34635665EAB5}" type="presOf" srcId="{919799BE-5780-4B6F-B05B-CEB9830839AF}" destId="{70F9A86F-118B-4BC5-82B6-A56DFD2D92FE}" srcOrd="0" destOrd="0" presId="urn:microsoft.com/office/officeart/2005/8/layout/vProcess5"/>
    <dgm:cxn modelId="{9B0D8693-048A-4B1B-96D9-4596ECFD1960}" type="presOf" srcId="{0ADD596A-301B-498C-A621-68541C98862D}" destId="{B9FA0A1A-D715-41B4-9C19-CDFAC2653BB4}" srcOrd="1" destOrd="0" presId="urn:microsoft.com/office/officeart/2005/8/layout/vProcess5"/>
    <dgm:cxn modelId="{34A0D5AE-71CF-40F7-9ADF-8BD08EF32A59}" type="presOf" srcId="{BBAD85AC-8609-4C50-A1F8-F016F3551ECE}" destId="{35D22B92-E912-4DCA-8C3D-646B9215934C}" srcOrd="0" destOrd="0" presId="urn:microsoft.com/office/officeart/2005/8/layout/vProcess5"/>
    <dgm:cxn modelId="{351E33B5-78A0-46C0-A177-5D5FE5538408}" type="presOf" srcId="{5A9E5D47-80EE-4DEE-AAE4-616A264D5889}" destId="{60296135-51A7-4511-BAEC-D878AA3463C8}" srcOrd="0" destOrd="0" presId="urn:microsoft.com/office/officeart/2005/8/layout/vProcess5"/>
    <dgm:cxn modelId="{371425D4-12D6-425C-80EC-A3A6E532D33B}" srcId="{919799BE-5780-4B6F-B05B-CEB9830839AF}" destId="{BBAD85AC-8609-4C50-A1F8-F016F3551ECE}" srcOrd="2" destOrd="0" parTransId="{67250CB7-DAE3-4DBB-AAF9-D88B1EE2E3C4}" sibTransId="{AB4041F6-D175-4FFF-80E2-433727551D91}"/>
    <dgm:cxn modelId="{4C087EDF-594A-4177-9B3E-44DFFA49F3F2}" type="presOf" srcId="{BBAD85AC-8609-4C50-A1F8-F016F3551ECE}" destId="{8D346B29-69AB-4D1D-8A69-BF654910A2F6}" srcOrd="1" destOrd="0" presId="urn:microsoft.com/office/officeart/2005/8/layout/vProcess5"/>
    <dgm:cxn modelId="{ADB7EEF6-ADEB-4735-ABD1-369975B62A2D}" type="presOf" srcId="{0ADD596A-301B-498C-A621-68541C98862D}" destId="{C801287F-5B44-4CAD-8309-5EFF1BEF6B79}" srcOrd="0" destOrd="0" presId="urn:microsoft.com/office/officeart/2005/8/layout/vProcess5"/>
    <dgm:cxn modelId="{7AAC4CAA-5218-4A88-B8E2-5279BA6C1427}" type="presParOf" srcId="{70F9A86F-118B-4BC5-82B6-A56DFD2D92FE}" destId="{C6925B21-5D02-4999-B4E8-09B40B3AF4E8}" srcOrd="0" destOrd="0" presId="urn:microsoft.com/office/officeart/2005/8/layout/vProcess5"/>
    <dgm:cxn modelId="{4EA546B2-4C2C-4E6F-A4C6-26ACD28E2ED0}" type="presParOf" srcId="{70F9A86F-118B-4BC5-82B6-A56DFD2D92FE}" destId="{20D41E51-2343-4D2D-8AE1-146CB4FFA78A}" srcOrd="1" destOrd="0" presId="urn:microsoft.com/office/officeart/2005/8/layout/vProcess5"/>
    <dgm:cxn modelId="{FF08E9ED-A176-4562-9186-DE7CD33044DC}" type="presParOf" srcId="{70F9A86F-118B-4BC5-82B6-A56DFD2D92FE}" destId="{C801287F-5B44-4CAD-8309-5EFF1BEF6B79}" srcOrd="2" destOrd="0" presId="urn:microsoft.com/office/officeart/2005/8/layout/vProcess5"/>
    <dgm:cxn modelId="{D215C242-5463-40F0-84D2-305A8F498730}" type="presParOf" srcId="{70F9A86F-118B-4BC5-82B6-A56DFD2D92FE}" destId="{35D22B92-E912-4DCA-8C3D-646B9215934C}" srcOrd="3" destOrd="0" presId="urn:microsoft.com/office/officeart/2005/8/layout/vProcess5"/>
    <dgm:cxn modelId="{6B5533C6-BE7C-40E8-9095-8AF09B38ECD4}" type="presParOf" srcId="{70F9A86F-118B-4BC5-82B6-A56DFD2D92FE}" destId="{D3279934-403A-43A7-B95B-E2181228F4D7}" srcOrd="4" destOrd="0" presId="urn:microsoft.com/office/officeart/2005/8/layout/vProcess5"/>
    <dgm:cxn modelId="{36B5F2AB-0959-45EF-8197-CCEBFE98EF72}" type="presParOf" srcId="{70F9A86F-118B-4BC5-82B6-A56DFD2D92FE}" destId="{60296135-51A7-4511-BAEC-D878AA3463C8}" srcOrd="5" destOrd="0" presId="urn:microsoft.com/office/officeart/2005/8/layout/vProcess5"/>
    <dgm:cxn modelId="{6F1AB7F8-72A3-4030-AE7F-0415DF3402DB}" type="presParOf" srcId="{70F9A86F-118B-4BC5-82B6-A56DFD2D92FE}" destId="{1D7CC99B-A0CA-4728-B43B-AAB08EEA943A}" srcOrd="6" destOrd="0" presId="urn:microsoft.com/office/officeart/2005/8/layout/vProcess5"/>
    <dgm:cxn modelId="{44686737-5595-4AC8-B754-0860C0D3293F}" type="presParOf" srcId="{70F9A86F-118B-4BC5-82B6-A56DFD2D92FE}" destId="{B9FA0A1A-D715-41B4-9C19-CDFAC2653BB4}" srcOrd="7" destOrd="0" presId="urn:microsoft.com/office/officeart/2005/8/layout/vProcess5"/>
    <dgm:cxn modelId="{251AC6F7-A2E6-486F-B3B4-2FE91C97DF02}" type="presParOf" srcId="{70F9A86F-118B-4BC5-82B6-A56DFD2D92FE}" destId="{8D346B29-69AB-4D1D-8A69-BF654910A2F6}"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6E68090-8FF7-49CD-8044-AAC12F928419}"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03A37E11-DEA8-416D-8943-4584F85BC215}">
      <dgm:prSet/>
      <dgm:spPr/>
      <dgm:t>
        <a:bodyPr/>
        <a:lstStyle/>
        <a:p>
          <a:r>
            <a:rPr lang="en-US"/>
            <a:t>Portable Eye-tracking system easily mounted on any moving chair.</a:t>
          </a:r>
        </a:p>
      </dgm:t>
    </dgm:pt>
    <dgm:pt modelId="{9A66E3D6-3D03-4804-9906-8EAD3683768B}" type="parTrans" cxnId="{B8F84644-4905-4035-9B16-87B2F927AFE9}">
      <dgm:prSet/>
      <dgm:spPr/>
      <dgm:t>
        <a:bodyPr/>
        <a:lstStyle/>
        <a:p>
          <a:endParaRPr lang="en-US"/>
        </a:p>
      </dgm:t>
    </dgm:pt>
    <dgm:pt modelId="{946FBA58-AA17-4BBE-9CD4-976EC83353F1}" type="sibTrans" cxnId="{B8F84644-4905-4035-9B16-87B2F927AFE9}">
      <dgm:prSet phldrT="01" phldr="0"/>
      <dgm:spPr/>
      <dgm:t>
        <a:bodyPr/>
        <a:lstStyle/>
        <a:p>
          <a:r>
            <a:rPr lang="en-US"/>
            <a:t>01</a:t>
          </a:r>
        </a:p>
      </dgm:t>
    </dgm:pt>
    <dgm:pt modelId="{74D77B1F-7A1E-4243-817C-991906164C24}">
      <dgm:prSet/>
      <dgm:spPr/>
      <dgm:t>
        <a:bodyPr/>
        <a:lstStyle/>
        <a:p>
          <a:r>
            <a:rPr lang="en-US" dirty="0"/>
            <a:t>Specialized software optimized for gaze interaction.</a:t>
          </a:r>
        </a:p>
      </dgm:t>
    </dgm:pt>
    <dgm:pt modelId="{F3DB1FC8-40D5-4D41-8F48-66A349F2A4AD}" type="parTrans" cxnId="{C73322AA-A960-4C83-BB6C-7CA614B2A2CA}">
      <dgm:prSet/>
      <dgm:spPr/>
      <dgm:t>
        <a:bodyPr/>
        <a:lstStyle/>
        <a:p>
          <a:endParaRPr lang="en-US"/>
        </a:p>
      </dgm:t>
    </dgm:pt>
    <dgm:pt modelId="{377FF0E8-939A-4037-932C-2C3586DD4BF9}" type="sibTrans" cxnId="{C73322AA-A960-4C83-BB6C-7CA614B2A2CA}">
      <dgm:prSet phldrT="02" phldr="0"/>
      <dgm:spPr/>
      <dgm:t>
        <a:bodyPr/>
        <a:lstStyle/>
        <a:p>
          <a:r>
            <a:rPr lang="en-US"/>
            <a:t>02</a:t>
          </a:r>
        </a:p>
      </dgm:t>
    </dgm:pt>
    <dgm:pt modelId="{47D6B640-9F45-45DB-8636-50188BE8ED3A}">
      <dgm:prSet/>
      <dgm:spPr/>
      <dgm:t>
        <a:bodyPr/>
        <a:lstStyle/>
        <a:p>
          <a:r>
            <a:rPr lang="en-US" dirty="0"/>
            <a:t>Real-time text to speech conversion.</a:t>
          </a:r>
        </a:p>
      </dgm:t>
    </dgm:pt>
    <dgm:pt modelId="{7929FCC4-8963-4F68-A242-834822743D0F}" type="parTrans" cxnId="{24898F60-79D9-4396-8B22-12930B48631E}">
      <dgm:prSet/>
      <dgm:spPr/>
      <dgm:t>
        <a:bodyPr/>
        <a:lstStyle/>
        <a:p>
          <a:endParaRPr lang="en-US"/>
        </a:p>
      </dgm:t>
    </dgm:pt>
    <dgm:pt modelId="{5626E692-CA6A-486F-B3AE-DBBD2B2985E2}" type="sibTrans" cxnId="{24898F60-79D9-4396-8B22-12930B48631E}">
      <dgm:prSet phldrT="03" phldr="0"/>
      <dgm:spPr/>
      <dgm:t>
        <a:bodyPr/>
        <a:lstStyle/>
        <a:p>
          <a:endParaRPr lang="en-US"/>
        </a:p>
      </dgm:t>
    </dgm:pt>
    <dgm:pt modelId="{5C42BB5B-BC15-4547-B7FB-9941922A8E67}" type="pres">
      <dgm:prSet presAssocID="{96E68090-8FF7-49CD-8044-AAC12F928419}" presName="outerComposite" presStyleCnt="0">
        <dgm:presLayoutVars>
          <dgm:chMax val="5"/>
          <dgm:dir/>
          <dgm:resizeHandles val="exact"/>
        </dgm:presLayoutVars>
      </dgm:prSet>
      <dgm:spPr/>
    </dgm:pt>
    <dgm:pt modelId="{3374A810-0D56-4039-9606-EC45FC64797C}" type="pres">
      <dgm:prSet presAssocID="{96E68090-8FF7-49CD-8044-AAC12F928419}" presName="dummyMaxCanvas" presStyleCnt="0">
        <dgm:presLayoutVars/>
      </dgm:prSet>
      <dgm:spPr/>
    </dgm:pt>
    <dgm:pt modelId="{B172DFAE-1C3A-4133-A6B7-09390E48CDCB}" type="pres">
      <dgm:prSet presAssocID="{96E68090-8FF7-49CD-8044-AAC12F928419}" presName="ThreeNodes_1" presStyleLbl="node1" presStyleIdx="0" presStyleCnt="3">
        <dgm:presLayoutVars>
          <dgm:bulletEnabled val="1"/>
        </dgm:presLayoutVars>
      </dgm:prSet>
      <dgm:spPr/>
    </dgm:pt>
    <dgm:pt modelId="{D846E967-51B7-493D-8292-F0C9D1B60868}" type="pres">
      <dgm:prSet presAssocID="{96E68090-8FF7-49CD-8044-AAC12F928419}" presName="ThreeNodes_2" presStyleLbl="node1" presStyleIdx="1" presStyleCnt="3">
        <dgm:presLayoutVars>
          <dgm:bulletEnabled val="1"/>
        </dgm:presLayoutVars>
      </dgm:prSet>
      <dgm:spPr/>
    </dgm:pt>
    <dgm:pt modelId="{01C02D53-CD94-4B02-84B6-C1D895FBD0B4}" type="pres">
      <dgm:prSet presAssocID="{96E68090-8FF7-49CD-8044-AAC12F928419}" presName="ThreeNodes_3" presStyleLbl="node1" presStyleIdx="2" presStyleCnt="3">
        <dgm:presLayoutVars>
          <dgm:bulletEnabled val="1"/>
        </dgm:presLayoutVars>
      </dgm:prSet>
      <dgm:spPr/>
    </dgm:pt>
    <dgm:pt modelId="{B0298562-2A79-4434-AA27-86BAAD3F8A04}" type="pres">
      <dgm:prSet presAssocID="{96E68090-8FF7-49CD-8044-AAC12F928419}" presName="ThreeConn_1-2" presStyleLbl="fgAccFollowNode1" presStyleIdx="0" presStyleCnt="2">
        <dgm:presLayoutVars>
          <dgm:bulletEnabled val="1"/>
        </dgm:presLayoutVars>
      </dgm:prSet>
      <dgm:spPr/>
    </dgm:pt>
    <dgm:pt modelId="{3EA174BA-92C5-4C39-B8A0-530AAA571608}" type="pres">
      <dgm:prSet presAssocID="{96E68090-8FF7-49CD-8044-AAC12F928419}" presName="ThreeConn_2-3" presStyleLbl="fgAccFollowNode1" presStyleIdx="1" presStyleCnt="2">
        <dgm:presLayoutVars>
          <dgm:bulletEnabled val="1"/>
        </dgm:presLayoutVars>
      </dgm:prSet>
      <dgm:spPr/>
    </dgm:pt>
    <dgm:pt modelId="{B2EA5DEA-8860-4FAE-8B3A-FB2F34774632}" type="pres">
      <dgm:prSet presAssocID="{96E68090-8FF7-49CD-8044-AAC12F928419}" presName="ThreeNodes_1_text" presStyleLbl="node1" presStyleIdx="2" presStyleCnt="3">
        <dgm:presLayoutVars>
          <dgm:bulletEnabled val="1"/>
        </dgm:presLayoutVars>
      </dgm:prSet>
      <dgm:spPr/>
    </dgm:pt>
    <dgm:pt modelId="{76AA71BF-650C-47FE-9C27-18DF2FED1FC0}" type="pres">
      <dgm:prSet presAssocID="{96E68090-8FF7-49CD-8044-AAC12F928419}" presName="ThreeNodes_2_text" presStyleLbl="node1" presStyleIdx="2" presStyleCnt="3">
        <dgm:presLayoutVars>
          <dgm:bulletEnabled val="1"/>
        </dgm:presLayoutVars>
      </dgm:prSet>
      <dgm:spPr/>
    </dgm:pt>
    <dgm:pt modelId="{5E097FEE-DE09-4BE8-99CC-1F4D4D3F033C}" type="pres">
      <dgm:prSet presAssocID="{96E68090-8FF7-49CD-8044-AAC12F928419}" presName="ThreeNodes_3_text" presStyleLbl="node1" presStyleIdx="2" presStyleCnt="3">
        <dgm:presLayoutVars>
          <dgm:bulletEnabled val="1"/>
        </dgm:presLayoutVars>
      </dgm:prSet>
      <dgm:spPr/>
    </dgm:pt>
  </dgm:ptLst>
  <dgm:cxnLst>
    <dgm:cxn modelId="{68864405-E673-487A-AC67-A8EE0CF82197}" type="presOf" srcId="{377FF0E8-939A-4037-932C-2C3586DD4BF9}" destId="{3EA174BA-92C5-4C39-B8A0-530AAA571608}" srcOrd="0" destOrd="0" presId="urn:microsoft.com/office/officeart/2005/8/layout/vProcess5"/>
    <dgm:cxn modelId="{D43E7414-BF4F-4AE8-A794-DAAE929E60AF}" type="presOf" srcId="{96E68090-8FF7-49CD-8044-AAC12F928419}" destId="{5C42BB5B-BC15-4547-B7FB-9941922A8E67}" srcOrd="0" destOrd="0" presId="urn:microsoft.com/office/officeart/2005/8/layout/vProcess5"/>
    <dgm:cxn modelId="{2EE2463D-DC87-4FAA-BFC6-279DD58C285C}" type="presOf" srcId="{74D77B1F-7A1E-4243-817C-991906164C24}" destId="{76AA71BF-650C-47FE-9C27-18DF2FED1FC0}" srcOrd="1" destOrd="0" presId="urn:microsoft.com/office/officeart/2005/8/layout/vProcess5"/>
    <dgm:cxn modelId="{24898F60-79D9-4396-8B22-12930B48631E}" srcId="{96E68090-8FF7-49CD-8044-AAC12F928419}" destId="{47D6B640-9F45-45DB-8636-50188BE8ED3A}" srcOrd="2" destOrd="0" parTransId="{7929FCC4-8963-4F68-A242-834822743D0F}" sibTransId="{5626E692-CA6A-486F-B3AE-DBBD2B2985E2}"/>
    <dgm:cxn modelId="{B8F84644-4905-4035-9B16-87B2F927AFE9}" srcId="{96E68090-8FF7-49CD-8044-AAC12F928419}" destId="{03A37E11-DEA8-416D-8943-4584F85BC215}" srcOrd="0" destOrd="0" parTransId="{9A66E3D6-3D03-4804-9906-8EAD3683768B}" sibTransId="{946FBA58-AA17-4BBE-9CD4-976EC83353F1}"/>
    <dgm:cxn modelId="{F97E0B8D-B66A-40F2-AB94-C452D2B884B3}" type="presOf" srcId="{946FBA58-AA17-4BBE-9CD4-976EC83353F1}" destId="{B0298562-2A79-4434-AA27-86BAAD3F8A04}" srcOrd="0" destOrd="0" presId="urn:microsoft.com/office/officeart/2005/8/layout/vProcess5"/>
    <dgm:cxn modelId="{57155AA1-2138-45E6-A543-CEEBD14C2403}" type="presOf" srcId="{03A37E11-DEA8-416D-8943-4584F85BC215}" destId="{B172DFAE-1C3A-4133-A6B7-09390E48CDCB}" srcOrd="0" destOrd="0" presId="urn:microsoft.com/office/officeart/2005/8/layout/vProcess5"/>
    <dgm:cxn modelId="{C73322AA-A960-4C83-BB6C-7CA614B2A2CA}" srcId="{96E68090-8FF7-49CD-8044-AAC12F928419}" destId="{74D77B1F-7A1E-4243-817C-991906164C24}" srcOrd="1" destOrd="0" parTransId="{F3DB1FC8-40D5-4D41-8F48-66A349F2A4AD}" sibTransId="{377FF0E8-939A-4037-932C-2C3586DD4BF9}"/>
    <dgm:cxn modelId="{BD89D2B2-906C-45EA-AE51-E45758FDC872}" type="presOf" srcId="{03A37E11-DEA8-416D-8943-4584F85BC215}" destId="{B2EA5DEA-8860-4FAE-8B3A-FB2F34774632}" srcOrd="1" destOrd="0" presId="urn:microsoft.com/office/officeart/2005/8/layout/vProcess5"/>
    <dgm:cxn modelId="{F859ECB5-0A2C-4491-AE2A-25E9CA22DEDF}" type="presOf" srcId="{47D6B640-9F45-45DB-8636-50188BE8ED3A}" destId="{5E097FEE-DE09-4BE8-99CC-1F4D4D3F033C}" srcOrd="1" destOrd="0" presId="urn:microsoft.com/office/officeart/2005/8/layout/vProcess5"/>
    <dgm:cxn modelId="{F73AF6C3-C6C3-4378-826E-DDF06DC33108}" type="presOf" srcId="{47D6B640-9F45-45DB-8636-50188BE8ED3A}" destId="{01C02D53-CD94-4B02-84B6-C1D895FBD0B4}" srcOrd="0" destOrd="0" presId="urn:microsoft.com/office/officeart/2005/8/layout/vProcess5"/>
    <dgm:cxn modelId="{4BF353D9-AFDA-4672-85CD-3C0E4422533B}" type="presOf" srcId="{74D77B1F-7A1E-4243-817C-991906164C24}" destId="{D846E967-51B7-493D-8292-F0C9D1B60868}" srcOrd="0" destOrd="0" presId="urn:microsoft.com/office/officeart/2005/8/layout/vProcess5"/>
    <dgm:cxn modelId="{7E22AE06-7476-4E65-B515-70E95135487D}" type="presParOf" srcId="{5C42BB5B-BC15-4547-B7FB-9941922A8E67}" destId="{3374A810-0D56-4039-9606-EC45FC64797C}" srcOrd="0" destOrd="0" presId="urn:microsoft.com/office/officeart/2005/8/layout/vProcess5"/>
    <dgm:cxn modelId="{E4C81DE8-B0E1-43B8-BFCE-08EE588C3615}" type="presParOf" srcId="{5C42BB5B-BC15-4547-B7FB-9941922A8E67}" destId="{B172DFAE-1C3A-4133-A6B7-09390E48CDCB}" srcOrd="1" destOrd="0" presId="urn:microsoft.com/office/officeart/2005/8/layout/vProcess5"/>
    <dgm:cxn modelId="{9259A5A7-F1B3-483D-8C87-2123B7171C38}" type="presParOf" srcId="{5C42BB5B-BC15-4547-B7FB-9941922A8E67}" destId="{D846E967-51B7-493D-8292-F0C9D1B60868}" srcOrd="2" destOrd="0" presId="urn:microsoft.com/office/officeart/2005/8/layout/vProcess5"/>
    <dgm:cxn modelId="{EEB87740-54E6-44AB-A140-35AE95B9929D}" type="presParOf" srcId="{5C42BB5B-BC15-4547-B7FB-9941922A8E67}" destId="{01C02D53-CD94-4B02-84B6-C1D895FBD0B4}" srcOrd="3" destOrd="0" presId="urn:microsoft.com/office/officeart/2005/8/layout/vProcess5"/>
    <dgm:cxn modelId="{77872D3C-D605-4EDE-92F2-256C7C075DE9}" type="presParOf" srcId="{5C42BB5B-BC15-4547-B7FB-9941922A8E67}" destId="{B0298562-2A79-4434-AA27-86BAAD3F8A04}" srcOrd="4" destOrd="0" presId="urn:microsoft.com/office/officeart/2005/8/layout/vProcess5"/>
    <dgm:cxn modelId="{A687C71F-EA69-45CC-8416-1A6F609C2F43}" type="presParOf" srcId="{5C42BB5B-BC15-4547-B7FB-9941922A8E67}" destId="{3EA174BA-92C5-4C39-B8A0-530AAA571608}" srcOrd="5" destOrd="0" presId="urn:microsoft.com/office/officeart/2005/8/layout/vProcess5"/>
    <dgm:cxn modelId="{B959B792-2CEA-496F-9A91-1753ABDF2A6A}" type="presParOf" srcId="{5C42BB5B-BC15-4547-B7FB-9941922A8E67}" destId="{B2EA5DEA-8860-4FAE-8B3A-FB2F34774632}" srcOrd="6" destOrd="0" presId="urn:microsoft.com/office/officeart/2005/8/layout/vProcess5"/>
    <dgm:cxn modelId="{512311BF-90B8-471A-AC02-142F6BD0B568}" type="presParOf" srcId="{5C42BB5B-BC15-4547-B7FB-9941922A8E67}" destId="{76AA71BF-650C-47FE-9C27-18DF2FED1FC0}" srcOrd="7" destOrd="0" presId="urn:microsoft.com/office/officeart/2005/8/layout/vProcess5"/>
    <dgm:cxn modelId="{B15450B1-D6CD-4F6C-9D02-81C7A10C24AB}" type="presParOf" srcId="{5C42BB5B-BC15-4547-B7FB-9941922A8E67}" destId="{5E097FEE-DE09-4BE8-99CC-1F4D4D3F033C}"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D41E51-2343-4D2D-8AE1-146CB4FFA78A}">
      <dsp:nvSpPr>
        <dsp:cNvPr id="0" name=""/>
        <dsp:cNvSpPr/>
      </dsp:nvSpPr>
      <dsp:spPr>
        <a:xfrm>
          <a:off x="0" y="0"/>
          <a:ext cx="8938260" cy="130725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Fully disabled individuals (ALS, Paralysis, locked-in syndrome) lose the miracle of communication.</a:t>
          </a:r>
        </a:p>
      </dsp:txBody>
      <dsp:txXfrm>
        <a:off x="38288" y="38288"/>
        <a:ext cx="7527628" cy="1230681"/>
      </dsp:txXfrm>
    </dsp:sp>
    <dsp:sp modelId="{C801287F-5B44-4CAD-8309-5EFF1BEF6B79}">
      <dsp:nvSpPr>
        <dsp:cNvPr id="0" name=""/>
        <dsp:cNvSpPr/>
      </dsp:nvSpPr>
      <dsp:spPr>
        <a:xfrm>
          <a:off x="788669" y="1525133"/>
          <a:ext cx="8938260" cy="1307257"/>
        </a:xfrm>
        <a:prstGeom prst="roundRect">
          <a:avLst>
            <a:gd name="adj" fmla="val 10000"/>
          </a:avLst>
        </a:prstGeom>
        <a:solidFill>
          <a:schemeClr val="accent2">
            <a:hueOff val="-1224775"/>
            <a:satOff val="-5657"/>
            <a:lumOff val="-1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Existing solutions are often bulky and expensive.</a:t>
          </a:r>
        </a:p>
      </dsp:txBody>
      <dsp:txXfrm>
        <a:off x="826957" y="1563421"/>
        <a:ext cx="7223296" cy="1230681"/>
      </dsp:txXfrm>
    </dsp:sp>
    <dsp:sp modelId="{35D22B92-E912-4DCA-8C3D-646B9215934C}">
      <dsp:nvSpPr>
        <dsp:cNvPr id="0" name=""/>
        <dsp:cNvSpPr/>
      </dsp:nvSpPr>
      <dsp:spPr>
        <a:xfrm>
          <a:off x="1577339" y="3050266"/>
          <a:ext cx="8938260" cy="1307257"/>
        </a:xfrm>
        <a:prstGeom prst="roundRect">
          <a:avLst>
            <a:gd name="adj" fmla="val 10000"/>
          </a:avLst>
        </a:prstGeom>
        <a:solidFill>
          <a:schemeClr val="accent2">
            <a:hueOff val="-2449550"/>
            <a:satOff val="-11314"/>
            <a:lumOff val="-235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Limited access to affordable communication technology in Egypt.</a:t>
          </a:r>
        </a:p>
      </dsp:txBody>
      <dsp:txXfrm>
        <a:off x="1615627" y="3088554"/>
        <a:ext cx="7223296" cy="1230681"/>
      </dsp:txXfrm>
    </dsp:sp>
    <dsp:sp modelId="{D3279934-403A-43A7-B95B-E2181228F4D7}">
      <dsp:nvSpPr>
        <dsp:cNvPr id="0" name=""/>
        <dsp:cNvSpPr/>
      </dsp:nvSpPr>
      <dsp:spPr>
        <a:xfrm>
          <a:off x="8088542" y="991336"/>
          <a:ext cx="849717" cy="849717"/>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en-US" sz="2700" kern="1200"/>
            <a:t>01</a:t>
          </a:r>
        </a:p>
      </dsp:txBody>
      <dsp:txXfrm>
        <a:off x="8279728" y="991336"/>
        <a:ext cx="467345" cy="639412"/>
      </dsp:txXfrm>
    </dsp:sp>
    <dsp:sp modelId="{60296135-51A7-4511-BAEC-D878AA3463C8}">
      <dsp:nvSpPr>
        <dsp:cNvPr id="0" name=""/>
        <dsp:cNvSpPr/>
      </dsp:nvSpPr>
      <dsp:spPr>
        <a:xfrm>
          <a:off x="8877212" y="2507755"/>
          <a:ext cx="849717" cy="849717"/>
        </a:xfrm>
        <a:prstGeom prst="downArrow">
          <a:avLst>
            <a:gd name="adj1" fmla="val 55000"/>
            <a:gd name="adj2" fmla="val 45000"/>
          </a:avLst>
        </a:prstGeom>
        <a:solidFill>
          <a:schemeClr val="accent2">
            <a:tint val="40000"/>
            <a:alpha val="90000"/>
            <a:hueOff val="-3345255"/>
            <a:satOff val="-8332"/>
            <a:lumOff val="-1038"/>
            <a:alphaOff val="0"/>
          </a:schemeClr>
        </a:solidFill>
        <a:ln w="12700" cap="flat" cmpd="sng" algn="ctr">
          <a:solidFill>
            <a:schemeClr val="accent2">
              <a:tint val="40000"/>
              <a:alpha val="90000"/>
              <a:hueOff val="-3345255"/>
              <a:satOff val="-8332"/>
              <a:lumOff val="-103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r>
            <a:rPr lang="en-US" sz="2700" kern="1200"/>
            <a:t>02</a:t>
          </a:r>
        </a:p>
      </dsp:txBody>
      <dsp:txXfrm>
        <a:off x="9068398" y="2507755"/>
        <a:ext cx="467345" cy="63941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72DFAE-1C3A-4133-A6B7-09390E48CDCB}">
      <dsp:nvSpPr>
        <dsp:cNvPr id="0" name=""/>
        <dsp:cNvSpPr/>
      </dsp:nvSpPr>
      <dsp:spPr>
        <a:xfrm>
          <a:off x="0" y="0"/>
          <a:ext cx="8930487" cy="136062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l" defTabSz="1555750">
            <a:lnSpc>
              <a:spcPct val="90000"/>
            </a:lnSpc>
            <a:spcBef>
              <a:spcPct val="0"/>
            </a:spcBef>
            <a:spcAft>
              <a:spcPct val="35000"/>
            </a:spcAft>
            <a:buNone/>
          </a:pPr>
          <a:r>
            <a:rPr lang="en-US" sz="3500" kern="1200"/>
            <a:t>Portable Eye-tracking system easily mounted on any moving chair.</a:t>
          </a:r>
        </a:p>
      </dsp:txBody>
      <dsp:txXfrm>
        <a:off x="39851" y="39851"/>
        <a:ext cx="7462265" cy="1280925"/>
      </dsp:txXfrm>
    </dsp:sp>
    <dsp:sp modelId="{D846E967-51B7-493D-8292-F0C9D1B60868}">
      <dsp:nvSpPr>
        <dsp:cNvPr id="0" name=""/>
        <dsp:cNvSpPr/>
      </dsp:nvSpPr>
      <dsp:spPr>
        <a:xfrm>
          <a:off x="787984" y="1587398"/>
          <a:ext cx="8930487" cy="1360627"/>
        </a:xfrm>
        <a:prstGeom prst="roundRect">
          <a:avLst>
            <a:gd name="adj" fmla="val 10000"/>
          </a:avLst>
        </a:prstGeom>
        <a:solidFill>
          <a:schemeClr val="accent2">
            <a:hueOff val="-1224775"/>
            <a:satOff val="-5657"/>
            <a:lumOff val="-1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l" defTabSz="1555750">
            <a:lnSpc>
              <a:spcPct val="90000"/>
            </a:lnSpc>
            <a:spcBef>
              <a:spcPct val="0"/>
            </a:spcBef>
            <a:spcAft>
              <a:spcPct val="35000"/>
            </a:spcAft>
            <a:buNone/>
          </a:pPr>
          <a:r>
            <a:rPr lang="en-US" sz="3500" kern="1200" dirty="0"/>
            <a:t>Specialized software optimized for gaze interaction.</a:t>
          </a:r>
        </a:p>
      </dsp:txBody>
      <dsp:txXfrm>
        <a:off x="827835" y="1627249"/>
        <a:ext cx="7178393" cy="1280925"/>
      </dsp:txXfrm>
    </dsp:sp>
    <dsp:sp modelId="{01C02D53-CD94-4B02-84B6-C1D895FBD0B4}">
      <dsp:nvSpPr>
        <dsp:cNvPr id="0" name=""/>
        <dsp:cNvSpPr/>
      </dsp:nvSpPr>
      <dsp:spPr>
        <a:xfrm>
          <a:off x="1575968" y="3174796"/>
          <a:ext cx="8930487" cy="1360627"/>
        </a:xfrm>
        <a:prstGeom prst="roundRect">
          <a:avLst>
            <a:gd name="adj" fmla="val 10000"/>
          </a:avLst>
        </a:prstGeom>
        <a:solidFill>
          <a:schemeClr val="accent2">
            <a:hueOff val="-2449550"/>
            <a:satOff val="-11314"/>
            <a:lumOff val="-235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l" defTabSz="1555750">
            <a:lnSpc>
              <a:spcPct val="90000"/>
            </a:lnSpc>
            <a:spcBef>
              <a:spcPct val="0"/>
            </a:spcBef>
            <a:spcAft>
              <a:spcPct val="35000"/>
            </a:spcAft>
            <a:buNone/>
          </a:pPr>
          <a:r>
            <a:rPr lang="en-US" sz="3500" kern="1200" dirty="0"/>
            <a:t>Real-time text to speech conversion.</a:t>
          </a:r>
        </a:p>
      </dsp:txBody>
      <dsp:txXfrm>
        <a:off x="1615819" y="3214647"/>
        <a:ext cx="7178393" cy="1280925"/>
      </dsp:txXfrm>
    </dsp:sp>
    <dsp:sp modelId="{B0298562-2A79-4434-AA27-86BAAD3F8A04}">
      <dsp:nvSpPr>
        <dsp:cNvPr id="0" name=""/>
        <dsp:cNvSpPr/>
      </dsp:nvSpPr>
      <dsp:spPr>
        <a:xfrm>
          <a:off x="8046079" y="1031808"/>
          <a:ext cx="884407" cy="884407"/>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kern="1200"/>
            <a:t>01</a:t>
          </a:r>
        </a:p>
      </dsp:txBody>
      <dsp:txXfrm>
        <a:off x="8245071" y="1031808"/>
        <a:ext cx="486423" cy="665516"/>
      </dsp:txXfrm>
    </dsp:sp>
    <dsp:sp modelId="{3EA174BA-92C5-4C39-B8A0-530AAA571608}">
      <dsp:nvSpPr>
        <dsp:cNvPr id="0" name=""/>
        <dsp:cNvSpPr/>
      </dsp:nvSpPr>
      <dsp:spPr>
        <a:xfrm>
          <a:off x="8834064" y="2610136"/>
          <a:ext cx="884407" cy="884407"/>
        </a:xfrm>
        <a:prstGeom prst="downArrow">
          <a:avLst>
            <a:gd name="adj1" fmla="val 55000"/>
            <a:gd name="adj2" fmla="val 45000"/>
          </a:avLst>
        </a:prstGeom>
        <a:solidFill>
          <a:schemeClr val="accent2">
            <a:tint val="40000"/>
            <a:alpha val="90000"/>
            <a:hueOff val="-3345255"/>
            <a:satOff val="-8332"/>
            <a:lumOff val="-1038"/>
            <a:alphaOff val="0"/>
          </a:schemeClr>
        </a:solidFill>
        <a:ln w="12700" cap="flat" cmpd="sng" algn="ctr">
          <a:solidFill>
            <a:schemeClr val="accent2">
              <a:tint val="40000"/>
              <a:alpha val="90000"/>
              <a:hueOff val="-3345255"/>
              <a:satOff val="-8332"/>
              <a:lumOff val="-103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kern="1200"/>
            <a:t>02</a:t>
          </a:r>
        </a:p>
      </dsp:txBody>
      <dsp:txXfrm>
        <a:off x="9033056" y="2610136"/>
        <a:ext cx="486423" cy="665516"/>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350B40-E974-47BB-8D7E-BE29953C11B9}" type="datetimeFigureOut">
              <a:rPr lang="en-US" smtClean="0"/>
              <a:t>2/14/2026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831E0C-278F-4526-B01D-38E14DE411E3}" type="slidenum">
              <a:rPr lang="en-US" smtClean="0"/>
              <a:t>‹#›</a:t>
            </a:fld>
            <a:endParaRPr lang="en-US"/>
          </a:p>
        </p:txBody>
      </p:sp>
    </p:spTree>
    <p:extLst>
      <p:ext uri="{BB962C8B-B14F-4D97-AF65-F5344CB8AC3E}">
        <p14:creationId xmlns:p14="http://schemas.microsoft.com/office/powerpoint/2010/main" val="7297882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E831E0C-278F-4526-B01D-38E14DE411E3}" type="slidenum">
              <a:rPr lang="en-US" smtClean="0"/>
              <a:t>5</a:t>
            </a:fld>
            <a:endParaRPr lang="en-US"/>
          </a:p>
        </p:txBody>
      </p:sp>
    </p:spTree>
    <p:extLst>
      <p:ext uri="{BB962C8B-B14F-4D97-AF65-F5344CB8AC3E}">
        <p14:creationId xmlns:p14="http://schemas.microsoft.com/office/powerpoint/2010/main" val="7902949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E831E0C-278F-4526-B01D-38E14DE411E3}" type="slidenum">
              <a:rPr lang="en-US" smtClean="0"/>
              <a:t>9</a:t>
            </a:fld>
            <a:endParaRPr lang="en-US"/>
          </a:p>
        </p:txBody>
      </p:sp>
    </p:spTree>
    <p:extLst>
      <p:ext uri="{BB962C8B-B14F-4D97-AF65-F5344CB8AC3E}">
        <p14:creationId xmlns:p14="http://schemas.microsoft.com/office/powerpoint/2010/main" val="485632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576072" y="1124712"/>
            <a:ext cx="11036808" cy="3172968"/>
          </a:xfrm>
        </p:spPr>
        <p:txBody>
          <a:bodyPr anchor="b">
            <a:normAutofit/>
          </a:bodyPr>
          <a:lstStyle>
            <a:lvl1pPr algn="l">
              <a:defRPr sz="8000"/>
            </a:lvl1pPr>
          </a:lstStyle>
          <a:p>
            <a:r>
              <a:rPr lang="en-US" dirty="0"/>
              <a:t>Click to edit Master title style</a:t>
            </a:r>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576072" y="4727448"/>
            <a:ext cx="11036808" cy="1481328"/>
          </a:xfrm>
        </p:spPr>
        <p:txBody>
          <a:bodyPr>
            <a:normAutofit/>
          </a:bodyPr>
          <a:lstStyle>
            <a:lvl1pPr marL="0" indent="0" algn="l">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1B9FF558-51F9-42A2-9944-DBE23DA8B224}"/>
              </a:ext>
            </a:extLst>
          </p:cNvPr>
          <p:cNvSpPr>
            <a:spLocks noGrp="1"/>
          </p:cNvSpPr>
          <p:nvPr>
            <p:ph type="dt" sz="half" idx="10"/>
          </p:nvPr>
        </p:nvSpPr>
        <p:spPr>
          <a:xfrm>
            <a:off x="576072" y="6356350"/>
            <a:ext cx="2743200" cy="365125"/>
          </a:xfrm>
        </p:spPr>
        <p:txBody>
          <a:bodyPr/>
          <a:lstStyle/>
          <a:p>
            <a:fld id="{02AC24A9-CCB6-4F8D-B8DB-C2F3692CFA5A}" type="datetimeFigureOut">
              <a:rPr lang="en-US" smtClean="0"/>
              <a:t>2/14/2026</a:t>
            </a:fld>
            <a:endParaRPr lang="en-US" dirty="0"/>
          </a:p>
        </p:txBody>
      </p:sp>
      <p:sp>
        <p:nvSpPr>
          <p:cNvPr id="5" name="Footer Placeholder 4">
            <a:extLst>
              <a:ext uri="{FF2B5EF4-FFF2-40B4-BE49-F238E27FC236}">
                <a16:creationId xmlns:a16="http://schemas.microsoft.com/office/drawing/2014/main" id="{8B8C0E86-A7F7-4BDC-A637-254E5252D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3D10ADE-E9DA-4E57-BF57-1CCB65219839}"/>
              </a:ext>
            </a:extLst>
          </p:cNvPr>
          <p:cNvSpPr>
            <a:spLocks noGrp="1"/>
          </p:cNvSpPr>
          <p:nvPr>
            <p:ph type="sldNum" sz="quarter" idx="12"/>
          </p:nvPr>
        </p:nvSpPr>
        <p:spPr>
          <a:xfrm>
            <a:off x="8869680" y="6356350"/>
            <a:ext cx="2743200" cy="365125"/>
          </a:xfrm>
        </p:spPr>
        <p:txBody>
          <a:bodyPr/>
          <a:lstStyle/>
          <a:p>
            <a:fld id="{B2DC25EE-239B-4C5F-AAD1-255A7D5F1EE2}" type="slidenum">
              <a:rPr lang="en-US" smtClean="0"/>
              <a:t>‹#›</a:t>
            </a:fld>
            <a:endParaRPr lang="en-US" dirty="0"/>
          </a:p>
        </p:txBody>
      </p:sp>
      <p:sp>
        <p:nvSpPr>
          <p:cNvPr id="8" name="Rectangle 7">
            <a:extLst>
              <a:ext uri="{FF2B5EF4-FFF2-40B4-BE49-F238E27FC236}">
                <a16:creationId xmlns:a16="http://schemas.microsoft.com/office/drawing/2014/main" id="{8D06CE56-3881-4ADA-8CEF-D18B02C242A3}"/>
              </a:ext>
            </a:extLst>
          </p:cNvPr>
          <p:cNvSpPr/>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79F3C543-62EC-4433-9C93-A2CD8764E9B4}"/>
              </a:ext>
            </a:extLst>
          </p:cNvPr>
          <p:cNvSpPr/>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28538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 name="Rectangle 9">
            <a:extLst>
              <a:ext uri="{FF2B5EF4-FFF2-40B4-BE49-F238E27FC236}">
                <a16:creationId xmlns:a16="http://schemas.microsoft.com/office/drawing/2014/main" id="{04727B71-B4B6-4823-80A1-68C40B475118}"/>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2/14/2026</a:t>
            </a:fld>
            <a:endParaRPr lang="en-US"/>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522586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AEDC5C-2E87-49C6-AB07-A95E5F39ED8E}"/>
              </a:ext>
            </a:extLst>
          </p:cNvPr>
          <p:cNvSpPr/>
          <p:nvPr/>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57D88DE-E462-4C8A-BF99-609390DFB781}"/>
              </a:ext>
            </a:extLst>
          </p:cNvPr>
          <p:cNvSpPr/>
          <p:nvPr/>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b">
            <a:normAutofit/>
          </a:bodyPr>
          <a:lstStyle>
            <a:lvl1pPr>
              <a:defRPr sz="6600"/>
            </a:lvl1pPr>
          </a:lstStyle>
          <a:p>
            <a:r>
              <a:rPr lang="en-US" dirty="0"/>
              <a:t>Click to edit Master title style</a:t>
            </a: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p:spPr>
        <p:txBody>
          <a:bodyPr anchor="ct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D48BFA7D-4401-4285-802B-1579165F0D6D}"/>
              </a:ext>
            </a:extLst>
          </p:cNvPr>
          <p:cNvSpPr>
            <a:spLocks noGrp="1"/>
          </p:cNvSpPr>
          <p:nvPr>
            <p:ph type="dt" sz="half" idx="10"/>
          </p:nvPr>
        </p:nvSpPr>
        <p:spPr/>
        <p:txBody>
          <a:bodyPr/>
          <a:lstStyle/>
          <a:p>
            <a:fld id="{02AC24A9-CCB6-4F8D-B8DB-C2F3692CFA5A}" type="datetimeFigureOut">
              <a:rPr lang="en-US" smtClean="0"/>
              <a:t>2/14/2026</a:t>
            </a:fld>
            <a:endParaRPr lang="en-US"/>
          </a:p>
        </p:txBody>
      </p:sp>
      <p:sp>
        <p:nvSpPr>
          <p:cNvPr id="5" name="Footer Placeholder 4">
            <a:extLst>
              <a:ext uri="{FF2B5EF4-FFF2-40B4-BE49-F238E27FC236}">
                <a16:creationId xmlns:a16="http://schemas.microsoft.com/office/drawing/2014/main" id="{49A909C5-AA19-4195-8376-9002D5DF46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AC3F32-46E0-47C8-8565-5969A475FDB0}"/>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2943259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76262E-36A0-40C6-ADE6-90CD9FB9B9EA}"/>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42677A9B-4D1D-4D80-912C-24570140A650}"/>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03DC8C98-510F-48C9-82B2-9E4F760A68DF}"/>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7A078AE-0BC3-48F9-87EC-2DB0CCE7E2AE}"/>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92A20DF-0829-4336-B59F-FF9D7AA9D8B6}"/>
              </a:ext>
            </a:extLst>
          </p:cNvPr>
          <p:cNvSpPr>
            <a:spLocks noGrp="1"/>
          </p:cNvSpPr>
          <p:nvPr>
            <p:ph sz="half" idx="1"/>
          </p:nvPr>
        </p:nvSpPr>
        <p:spPr>
          <a:xfrm>
            <a:off x="1115568"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935D01C-CF67-4DF6-B96C-FFC9D5BF847B}"/>
              </a:ext>
            </a:extLst>
          </p:cNvPr>
          <p:cNvSpPr>
            <a:spLocks noGrp="1"/>
          </p:cNvSpPr>
          <p:nvPr>
            <p:ph sz="half" idx="2"/>
          </p:nvPr>
        </p:nvSpPr>
        <p:spPr>
          <a:xfrm>
            <a:off x="6345936"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29BBD797-6031-4F82-8726-EAB757027FF5}"/>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2/14/2026</a:t>
            </a:fld>
            <a:endParaRPr lang="en-US"/>
          </a:p>
        </p:txBody>
      </p:sp>
      <p:sp>
        <p:nvSpPr>
          <p:cNvPr id="6" name="Footer Placeholder 5">
            <a:extLst>
              <a:ext uri="{FF2B5EF4-FFF2-40B4-BE49-F238E27FC236}">
                <a16:creationId xmlns:a16="http://schemas.microsoft.com/office/drawing/2014/main" id="{76B3F71C-B897-4909-A75E-8716AD49C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78BC14-5BB1-405F-A6F3-C07230F085C8}"/>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2815940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299500CE-917A-4D03-A7DF-71D8EBBC1537}"/>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2/14/2026</a:t>
            </a:fld>
            <a:endParaRPr lang="en-US"/>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35554234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en-US" dirty="0"/>
              <a:t>Click to edit Master title style</a:t>
            </a:r>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fld id="{02AC24A9-CCB6-4F8D-B8DB-C2F3692CFA5A}" type="datetimeFigureOut">
              <a:rPr lang="en-US" smtClean="0"/>
              <a:t>2/14/2026</a:t>
            </a:fld>
            <a:endParaRPr lang="en-US"/>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11202333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fld id="{02AC24A9-CCB6-4F8D-B8DB-C2F3692CFA5A}" type="datetimeFigureOut">
              <a:rPr lang="en-US" smtClean="0"/>
              <a:t>2/14/2026</a:t>
            </a:fld>
            <a:endParaRPr lang="en-US"/>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27961100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2/14/2026</a:t>
            </a:fld>
            <a:endParaRPr lang="en-US" dirty="0"/>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18647654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2/14/2026</a:t>
            </a:fld>
            <a:endParaRPr lang="en-US"/>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33693042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32C18-E430-4EC7-BD7C-99D86D012231}"/>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8FC5012F-7119-4D94-9717-3862E1C9384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ED9A4A-D287-4207-9037-70DB007A1707}"/>
              </a:ext>
            </a:extLst>
          </p:cNvPr>
          <p:cNvSpPr>
            <a:spLocks noGrp="1"/>
          </p:cNvSpPr>
          <p:nvPr>
            <p:ph type="dt" sz="half" idx="10"/>
          </p:nvPr>
        </p:nvSpPr>
        <p:spPr/>
        <p:txBody>
          <a:bodyPr/>
          <a:lstStyle/>
          <a:p>
            <a:fld id="{02AC24A9-CCB6-4F8D-B8DB-C2F3692CFA5A}" type="datetimeFigureOut">
              <a:rPr lang="en-US" smtClean="0"/>
              <a:t>2/14/2026</a:t>
            </a:fld>
            <a:endParaRPr lang="en-US"/>
          </a:p>
        </p:txBody>
      </p:sp>
      <p:sp>
        <p:nvSpPr>
          <p:cNvPr id="5" name="Footer Placeholder 4">
            <a:extLst>
              <a:ext uri="{FF2B5EF4-FFF2-40B4-BE49-F238E27FC236}">
                <a16:creationId xmlns:a16="http://schemas.microsoft.com/office/drawing/2014/main" id="{61ECFCAC-80DB-43BB-B3F1-AC22BACEE3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679730-3487-4D94-A0DC-C21684963AB3}"/>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6061945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3C89D-929E-4CD1-BCCC-72A14C0335D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ED450EA-A577-4B76-A12F-650BEB20FD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D2603B-9ACE-4FA9-805B-9B91EB63DF7D}"/>
              </a:ext>
            </a:extLst>
          </p:cNvPr>
          <p:cNvSpPr>
            <a:spLocks noGrp="1"/>
          </p:cNvSpPr>
          <p:nvPr>
            <p:ph type="dt" sz="half" idx="10"/>
          </p:nvPr>
        </p:nvSpPr>
        <p:spPr/>
        <p:txBody>
          <a:bodyPr/>
          <a:lstStyle/>
          <a:p>
            <a:fld id="{02AC24A9-CCB6-4F8D-B8DB-C2F3692CFA5A}" type="datetimeFigureOut">
              <a:rPr lang="en-US" smtClean="0"/>
              <a:t>2/14/2026</a:t>
            </a:fld>
            <a:endParaRPr lang="en-US"/>
          </a:p>
        </p:txBody>
      </p:sp>
      <p:sp>
        <p:nvSpPr>
          <p:cNvPr id="5" name="Footer Placeholder 4">
            <a:extLst>
              <a:ext uri="{FF2B5EF4-FFF2-40B4-BE49-F238E27FC236}">
                <a16:creationId xmlns:a16="http://schemas.microsoft.com/office/drawing/2014/main" id="{7ECE18AC-D6A9-4A61-885D-68E2B684A4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197AE4-AA47-4E14-8FFE-171FAE47F49E}"/>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3300981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AC24A9-CCB6-4F8D-B8DB-C2F3692CFA5A}" type="datetimeFigureOut">
              <a:rPr lang="en-US" smtClean="0"/>
              <a:t>2/14/2026</a:t>
            </a:fld>
            <a:endParaRPr lang="en-US"/>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DC25EE-239B-4C5F-AAD1-255A7D5F1EE2}" type="slidenum">
              <a:rPr lang="en-US" smtClean="0"/>
              <a:t>‹#›</a:t>
            </a:fld>
            <a:endParaRPr lang="en-US"/>
          </a:p>
        </p:txBody>
      </p:sp>
    </p:spTree>
    <p:extLst>
      <p:ext uri="{BB962C8B-B14F-4D97-AF65-F5344CB8AC3E}">
        <p14:creationId xmlns:p14="http://schemas.microsoft.com/office/powerpoint/2010/main" val="147853790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1" r:id="rId6"/>
    <p:sldLayoutId id="2147483727" r:id="rId7"/>
    <p:sldLayoutId id="2147483728" r:id="rId8"/>
    <p:sldLayoutId id="2147483729" r:id="rId9"/>
    <p:sldLayoutId id="2147483730" r:id="rId10"/>
    <p:sldLayoutId id="214748373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9" name="Rectangle 104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An app can detect COVID-19 – level 1 - News in Levels">
            <a:extLst>
              <a:ext uri="{FF2B5EF4-FFF2-40B4-BE49-F238E27FC236}">
                <a16:creationId xmlns:a16="http://schemas.microsoft.com/office/drawing/2014/main" id="{F8A7004D-110E-C07C-18F2-8676DDCA7E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2161" r="14639"/>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50" name="Rectangle 1049">
            <a:extLst>
              <a:ext uri="{FF2B5EF4-FFF2-40B4-BE49-F238E27FC236}">
                <a16:creationId xmlns:a16="http://schemas.microsoft.com/office/drawing/2014/main" id="{A44CD100-6267-4E62-AA64-2182A3A6A1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7BB6330-2C68-09D1-B2B9-A37753F22210}"/>
              </a:ext>
            </a:extLst>
          </p:cNvPr>
          <p:cNvSpPr>
            <a:spLocks noGrp="1"/>
          </p:cNvSpPr>
          <p:nvPr>
            <p:ph type="ctrTitle"/>
          </p:nvPr>
        </p:nvSpPr>
        <p:spPr>
          <a:xfrm>
            <a:off x="477981" y="1122363"/>
            <a:ext cx="4023360" cy="3204134"/>
          </a:xfrm>
        </p:spPr>
        <p:txBody>
          <a:bodyPr anchor="b">
            <a:normAutofit/>
          </a:bodyPr>
          <a:lstStyle/>
          <a:p>
            <a:r>
              <a:rPr lang="en-US" sz="4800">
                <a:solidFill>
                  <a:schemeClr val="bg1"/>
                </a:solidFill>
              </a:rPr>
              <a:t>EyeTalk</a:t>
            </a:r>
          </a:p>
        </p:txBody>
      </p:sp>
      <p:sp>
        <p:nvSpPr>
          <p:cNvPr id="3" name="Subtitle 2">
            <a:extLst>
              <a:ext uri="{FF2B5EF4-FFF2-40B4-BE49-F238E27FC236}">
                <a16:creationId xmlns:a16="http://schemas.microsoft.com/office/drawing/2014/main" id="{1BBA1878-D1C8-5801-FFA9-BF40832CBC06}"/>
              </a:ext>
            </a:extLst>
          </p:cNvPr>
          <p:cNvSpPr>
            <a:spLocks noGrp="1"/>
          </p:cNvSpPr>
          <p:nvPr>
            <p:ph type="subTitle" idx="1"/>
          </p:nvPr>
        </p:nvSpPr>
        <p:spPr>
          <a:xfrm>
            <a:off x="477980" y="4872922"/>
            <a:ext cx="4023359" cy="1208141"/>
          </a:xfrm>
        </p:spPr>
        <p:txBody>
          <a:bodyPr>
            <a:normAutofit/>
          </a:bodyPr>
          <a:lstStyle/>
          <a:p>
            <a:r>
              <a:rPr lang="en-US" sz="2000" b="1">
                <a:solidFill>
                  <a:schemeClr val="bg1"/>
                </a:solidFill>
              </a:rPr>
              <a:t>An Accessible AAC Device Using Visual Speech</a:t>
            </a:r>
            <a:endParaRPr lang="en-US" sz="2000">
              <a:solidFill>
                <a:schemeClr val="bg1"/>
              </a:solidFill>
            </a:endParaRPr>
          </a:p>
        </p:txBody>
      </p:sp>
      <p:sp>
        <p:nvSpPr>
          <p:cNvPr id="1051" name="Rectangle 105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39" name="Rectangle 1038">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bg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46703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C115D4-0BAF-50F4-3FC0-624EDB3A00CF}"/>
              </a:ext>
            </a:extLst>
          </p:cNvPr>
          <p:cNvSpPr>
            <a:spLocks noGrp="1"/>
          </p:cNvSpPr>
          <p:nvPr>
            <p:ph type="title"/>
          </p:nvPr>
        </p:nvSpPr>
        <p:spPr>
          <a:xfrm>
            <a:off x="841248" y="256032"/>
            <a:ext cx="10506456" cy="1014984"/>
          </a:xfrm>
        </p:spPr>
        <p:txBody>
          <a:bodyPr anchor="b">
            <a:normAutofit/>
          </a:bodyPr>
          <a:lstStyle/>
          <a:p>
            <a:r>
              <a:rPr lang="en-US" b="1" dirty="0"/>
              <a:t>Challenges:</a:t>
            </a:r>
          </a:p>
        </p:txBody>
      </p:sp>
      <p:sp>
        <p:nvSpPr>
          <p:cNvPr id="20" name="Rectangle 19">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9144"/>
          </a:xfrm>
          <a:prstGeom prst="rect">
            <a:avLst/>
          </a:prstGeom>
          <a:solidFill>
            <a:schemeClr val="tx1">
              <a:lumMod val="65000"/>
              <a:lumOff val="35000"/>
              <a:alpha val="30000"/>
            </a:schemeClr>
          </a:solidFill>
          <a:ln w="9525">
            <a:solidFill>
              <a:schemeClr val="tx1">
                <a:lumMod val="65000"/>
                <a:lumOff val="35000"/>
                <a:alpha val="3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5" name="Content Placeholder 2">
            <a:extLst>
              <a:ext uri="{FF2B5EF4-FFF2-40B4-BE49-F238E27FC236}">
                <a16:creationId xmlns:a16="http://schemas.microsoft.com/office/drawing/2014/main" id="{DE2DE47F-D3FC-6755-4DE2-35A9B9A5E121}"/>
              </a:ext>
            </a:extLst>
          </p:cNvPr>
          <p:cNvGraphicFramePr>
            <a:graphicFrameLocks noGrp="1"/>
          </p:cNvGraphicFramePr>
          <p:nvPr>
            <p:ph idx="1"/>
            <p:extLst>
              <p:ext uri="{D42A27DB-BD31-4B8C-83A1-F6EECF244321}">
                <p14:modId xmlns:p14="http://schemas.microsoft.com/office/powerpoint/2010/main" val="3772238462"/>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234618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3E6B17-C74A-7D49-BBE5-8F03F202D923}"/>
              </a:ext>
            </a:extLst>
          </p:cNvPr>
          <p:cNvSpPr>
            <a:spLocks noGrp="1"/>
          </p:cNvSpPr>
          <p:nvPr>
            <p:ph type="title"/>
          </p:nvPr>
        </p:nvSpPr>
        <p:spPr>
          <a:xfrm>
            <a:off x="841248" y="334644"/>
            <a:ext cx="10509504" cy="1076914"/>
          </a:xfrm>
        </p:spPr>
        <p:txBody>
          <a:bodyPr anchor="ctr">
            <a:normAutofit/>
          </a:bodyPr>
          <a:lstStyle/>
          <a:p>
            <a:r>
              <a:rPr lang="en-US" b="1" dirty="0"/>
              <a:t>Solution:</a:t>
            </a:r>
          </a:p>
        </p:txBody>
      </p:sp>
      <p:sp>
        <p:nvSpPr>
          <p:cNvPr id="34" name="Rectangle 33">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2772" y="0"/>
            <a:ext cx="10506456" cy="19138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 name="Rectangle 35">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512994"/>
            <a:ext cx="1050645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18" name="Content Placeholder 2">
            <a:extLst>
              <a:ext uri="{FF2B5EF4-FFF2-40B4-BE49-F238E27FC236}">
                <a16:creationId xmlns:a16="http://schemas.microsoft.com/office/drawing/2014/main" id="{4D2F6031-3763-A0F3-22B2-DE52D5D2D1FD}"/>
              </a:ext>
            </a:extLst>
          </p:cNvPr>
          <p:cNvGraphicFramePr>
            <a:graphicFrameLocks noGrp="1"/>
          </p:cNvGraphicFramePr>
          <p:nvPr>
            <p:ph idx="1"/>
            <p:extLst>
              <p:ext uri="{D42A27DB-BD31-4B8C-83A1-F6EECF244321}">
                <p14:modId xmlns:p14="http://schemas.microsoft.com/office/powerpoint/2010/main" val="2744071226"/>
              </p:ext>
            </p:extLst>
          </p:nvPr>
        </p:nvGraphicFramePr>
        <p:xfrm>
          <a:off x="838200" y="1737360"/>
          <a:ext cx="10506456" cy="45354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557583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69E6EFEE-6516-482C-B143-F97F9BF89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3DF0D2C0-CD0C-470C-8851-D8B2CC417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748766" y="3248002"/>
            <a:ext cx="5688917" cy="19138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026" name="Picture 2" descr="Lo que Stephen Hawking no supo de los agujeros negros">
            <a:extLst>
              <a:ext uri="{FF2B5EF4-FFF2-40B4-BE49-F238E27FC236}">
                <a16:creationId xmlns:a16="http://schemas.microsoft.com/office/drawing/2014/main" id="{09BB6341-8447-6E6B-76A5-B18E4E38969C}"/>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r="1" b="8265"/>
          <a:stretch>
            <a:fillRect/>
          </a:stretch>
        </p:blipFill>
        <p:spPr bwMode="auto">
          <a:xfrm>
            <a:off x="583656" y="499236"/>
            <a:ext cx="11024687" cy="56889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61691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69E6EFEE-6516-482C-B143-F97F9BF89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DF0D2C0-CD0C-470C-8851-D8B2CC417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748766" y="3248002"/>
            <a:ext cx="5688917" cy="19138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Picture 2">
            <a:extLst>
              <a:ext uri="{FF2B5EF4-FFF2-40B4-BE49-F238E27FC236}">
                <a16:creationId xmlns:a16="http://schemas.microsoft.com/office/drawing/2014/main" id="{080C10F9-051B-751E-5A33-0F3DB5F641CB}"/>
              </a:ext>
            </a:extLst>
          </p:cNvPr>
          <p:cNvPicPr>
            <a:picLocks noChangeAspect="1"/>
          </p:cNvPicPr>
          <p:nvPr/>
        </p:nvPicPr>
        <p:blipFill>
          <a:blip r:embed="rId3"/>
          <a:stretch>
            <a:fillRect/>
          </a:stretch>
        </p:blipFill>
        <p:spPr>
          <a:xfrm>
            <a:off x="332403" y="951801"/>
            <a:ext cx="11527194" cy="4783787"/>
          </a:xfrm>
          <a:prstGeom prst="rect">
            <a:avLst/>
          </a:prstGeom>
        </p:spPr>
      </p:pic>
    </p:spTree>
    <p:extLst>
      <p:ext uri="{BB962C8B-B14F-4D97-AF65-F5344CB8AC3E}">
        <p14:creationId xmlns:p14="http://schemas.microsoft.com/office/powerpoint/2010/main" val="30361836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83" name="Rectangle 2082">
            <a:extLst>
              <a:ext uri="{FF2B5EF4-FFF2-40B4-BE49-F238E27FC236}">
                <a16:creationId xmlns:a16="http://schemas.microsoft.com/office/drawing/2014/main" id="{8F7AFB9A-7364-478C-B48B-8523CDD9AE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085" name="Freeform: Shape 2084">
            <a:extLst>
              <a:ext uri="{FF2B5EF4-FFF2-40B4-BE49-F238E27FC236}">
                <a16:creationId xmlns:a16="http://schemas.microsoft.com/office/drawing/2014/main" id="{36678033-86B6-40E6-BE90-78D8ED4E3A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096002" cy="6858000"/>
          </a:xfrm>
          <a:custGeom>
            <a:avLst/>
            <a:gdLst>
              <a:gd name="connsiteX0" fmla="*/ 0 w 6096002"/>
              <a:gd name="connsiteY0" fmla="*/ 0 h 6858000"/>
              <a:gd name="connsiteX1" fmla="*/ 4885967 w 6096002"/>
              <a:gd name="connsiteY1" fmla="*/ 0 h 6858000"/>
              <a:gd name="connsiteX2" fmla="*/ 4946007 w 6096002"/>
              <a:gd name="connsiteY2" fmla="*/ 69271 h 6858000"/>
              <a:gd name="connsiteX3" fmla="*/ 6096002 w 6096002"/>
              <a:gd name="connsiteY3" fmla="*/ 3429000 h 6858000"/>
              <a:gd name="connsiteX4" fmla="*/ 4946007 w 6096002"/>
              <a:gd name="connsiteY4" fmla="*/ 6788730 h 6858000"/>
              <a:gd name="connsiteX5" fmla="*/ 4885967 w 6096002"/>
              <a:gd name="connsiteY5" fmla="*/ 6858000 h 6858000"/>
              <a:gd name="connsiteX6" fmla="*/ 0 w 6096002"/>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2" h="6858000">
                <a:moveTo>
                  <a:pt x="0" y="0"/>
                </a:moveTo>
                <a:lnTo>
                  <a:pt x="4885967" y="0"/>
                </a:lnTo>
                <a:lnTo>
                  <a:pt x="4946007" y="69271"/>
                </a:lnTo>
                <a:cubicBezTo>
                  <a:pt x="5656533" y="929100"/>
                  <a:pt x="6096002" y="2116944"/>
                  <a:pt x="6096002" y="3429000"/>
                </a:cubicBezTo>
                <a:cubicBezTo>
                  <a:pt x="6096002" y="4741056"/>
                  <a:pt x="5656533" y="5928900"/>
                  <a:pt x="4946007" y="6788730"/>
                </a:cubicBezTo>
                <a:lnTo>
                  <a:pt x="4885967" y="6858000"/>
                </a:lnTo>
                <a:lnTo>
                  <a:pt x="0" y="6858000"/>
                </a:lnTo>
                <a:close/>
              </a:path>
            </a:pathLst>
          </a:custGeom>
          <a:ln w="9525">
            <a:solidFill>
              <a:schemeClr val="tx2">
                <a:lumMod val="10000"/>
                <a:lumOff val="90000"/>
              </a:schemeClr>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087" name="Freeform: Shape 2086">
            <a:extLst>
              <a:ext uri="{FF2B5EF4-FFF2-40B4-BE49-F238E27FC236}">
                <a16:creationId xmlns:a16="http://schemas.microsoft.com/office/drawing/2014/main" id="{D2542E1A-076E-4A34-BB67-2BF961754E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85370" cy="6858000"/>
          </a:xfrm>
          <a:custGeom>
            <a:avLst/>
            <a:gdLst>
              <a:gd name="connsiteX0" fmla="*/ 0 w 6085370"/>
              <a:gd name="connsiteY0" fmla="*/ 0 h 6858000"/>
              <a:gd name="connsiteX1" fmla="*/ 4875335 w 6085370"/>
              <a:gd name="connsiteY1" fmla="*/ 0 h 6858000"/>
              <a:gd name="connsiteX2" fmla="*/ 4935375 w 6085370"/>
              <a:gd name="connsiteY2" fmla="*/ 69271 h 6858000"/>
              <a:gd name="connsiteX3" fmla="*/ 6085370 w 6085370"/>
              <a:gd name="connsiteY3" fmla="*/ 3429000 h 6858000"/>
              <a:gd name="connsiteX4" fmla="*/ 4935375 w 6085370"/>
              <a:gd name="connsiteY4" fmla="*/ 6788730 h 6858000"/>
              <a:gd name="connsiteX5" fmla="*/ 4875335 w 6085370"/>
              <a:gd name="connsiteY5" fmla="*/ 6858000 h 6858000"/>
              <a:gd name="connsiteX6" fmla="*/ 0 w 6085370"/>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5370" h="6858000">
                <a:moveTo>
                  <a:pt x="0" y="0"/>
                </a:moveTo>
                <a:lnTo>
                  <a:pt x="4875335" y="0"/>
                </a:lnTo>
                <a:lnTo>
                  <a:pt x="4935375" y="69271"/>
                </a:lnTo>
                <a:cubicBezTo>
                  <a:pt x="5645901" y="929100"/>
                  <a:pt x="6085370" y="2116944"/>
                  <a:pt x="6085370" y="3429000"/>
                </a:cubicBezTo>
                <a:cubicBezTo>
                  <a:pt x="6085370" y="4741056"/>
                  <a:pt x="5645901" y="5928900"/>
                  <a:pt x="4935375" y="6788730"/>
                </a:cubicBezTo>
                <a:lnTo>
                  <a:pt x="4875335"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800A4B8-084B-6BE5-B5C4-A8B5895FD764}"/>
              </a:ext>
            </a:extLst>
          </p:cNvPr>
          <p:cNvSpPr>
            <a:spLocks noGrp="1"/>
          </p:cNvSpPr>
          <p:nvPr>
            <p:ph type="title"/>
          </p:nvPr>
        </p:nvSpPr>
        <p:spPr>
          <a:xfrm>
            <a:off x="438913" y="859536"/>
            <a:ext cx="4832802" cy="1243584"/>
          </a:xfrm>
        </p:spPr>
        <p:txBody>
          <a:bodyPr>
            <a:normAutofit/>
          </a:bodyPr>
          <a:lstStyle/>
          <a:p>
            <a:r>
              <a:rPr lang="en-US" sz="3400" b="1" dirty="0"/>
              <a:t>Hardware stack:</a:t>
            </a:r>
          </a:p>
        </p:txBody>
      </p:sp>
      <p:sp>
        <p:nvSpPr>
          <p:cNvPr id="2089" name="Rectangle 2088">
            <a:extLst>
              <a:ext uri="{FF2B5EF4-FFF2-40B4-BE49-F238E27FC236}">
                <a16:creationId xmlns:a16="http://schemas.microsoft.com/office/drawing/2014/main" id="{75C56826-D4E5-42ED-8529-079651CB30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152144"/>
            <a:ext cx="128016" cy="65390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1" name="Rectangle 2090">
            <a:extLst>
              <a:ext uri="{FF2B5EF4-FFF2-40B4-BE49-F238E27FC236}">
                <a16:creationId xmlns:a16="http://schemas.microsoft.com/office/drawing/2014/main" id="{82095FCE-EF05-4443-B97A-85DEE3A5CA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8912" y="2185062"/>
            <a:ext cx="498348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56EBAF6-921F-D6D9-2005-52A2392A7085}"/>
              </a:ext>
            </a:extLst>
          </p:cNvPr>
          <p:cNvSpPr>
            <a:spLocks noGrp="1"/>
          </p:cNvSpPr>
          <p:nvPr>
            <p:ph idx="1"/>
          </p:nvPr>
        </p:nvSpPr>
        <p:spPr>
          <a:xfrm>
            <a:off x="438912" y="2512611"/>
            <a:ext cx="4832803" cy="3664351"/>
          </a:xfrm>
        </p:spPr>
        <p:txBody>
          <a:bodyPr>
            <a:normAutofit/>
          </a:bodyPr>
          <a:lstStyle/>
          <a:p>
            <a:r>
              <a:rPr lang="en-US" sz="1800" b="1" dirty="0"/>
              <a:t>Raspberry Pi 5 8GB </a:t>
            </a:r>
            <a:r>
              <a:rPr lang="en-US" sz="1800" dirty="0"/>
              <a:t>(Possibility of a more power processing unit if need be).</a:t>
            </a:r>
          </a:p>
          <a:p>
            <a:r>
              <a:rPr lang="en-US" sz="1800" b="1" dirty="0"/>
              <a:t>IR Camera Module </a:t>
            </a:r>
            <a:r>
              <a:rPr lang="en-US" sz="1800" dirty="0"/>
              <a:t>(With </a:t>
            </a:r>
            <a:r>
              <a:rPr lang="en-US" sz="1800"/>
              <a:t>NoIR</a:t>
            </a:r>
            <a:r>
              <a:rPr lang="en-US" sz="1800" dirty="0"/>
              <a:t> filter).</a:t>
            </a:r>
          </a:p>
          <a:p>
            <a:r>
              <a:rPr lang="en-US" sz="1800" dirty="0"/>
              <a:t>Portable Power Bank or Portable Power Supply.</a:t>
            </a:r>
          </a:p>
          <a:p>
            <a:r>
              <a:rPr lang="en-US" sz="1800" dirty="0"/>
              <a:t>3D-Printed Design.</a:t>
            </a:r>
          </a:p>
          <a:p>
            <a:endParaRPr lang="en-US" sz="1800" dirty="0"/>
          </a:p>
          <a:p>
            <a:r>
              <a:rPr lang="en-US" sz="1800" b="1" dirty="0"/>
              <a:t>Total Cost: </a:t>
            </a:r>
            <a:r>
              <a:rPr lang="en-US" sz="1800" dirty="0"/>
              <a:t>~15000 – 20000 EGP</a:t>
            </a:r>
          </a:p>
        </p:txBody>
      </p:sp>
      <p:pic>
        <p:nvPicPr>
          <p:cNvPr id="7" name="Picture 6">
            <a:extLst>
              <a:ext uri="{FF2B5EF4-FFF2-40B4-BE49-F238E27FC236}">
                <a16:creationId xmlns:a16="http://schemas.microsoft.com/office/drawing/2014/main" id="{C09303CF-ADEA-1CDF-A0A5-3E124A430B52}"/>
              </a:ext>
            </a:extLst>
          </p:cNvPr>
          <p:cNvPicPr>
            <a:picLocks noChangeAspect="1"/>
          </p:cNvPicPr>
          <p:nvPr/>
        </p:nvPicPr>
        <p:blipFill>
          <a:blip r:embed="rId2"/>
          <a:stretch>
            <a:fillRect/>
          </a:stretch>
        </p:blipFill>
        <p:spPr>
          <a:xfrm>
            <a:off x="6617368" y="618110"/>
            <a:ext cx="5135719" cy="2542180"/>
          </a:xfrm>
          <a:prstGeom prst="rect">
            <a:avLst/>
          </a:prstGeom>
        </p:spPr>
      </p:pic>
      <p:pic>
        <p:nvPicPr>
          <p:cNvPr id="5" name="Picture 4">
            <a:extLst>
              <a:ext uri="{FF2B5EF4-FFF2-40B4-BE49-F238E27FC236}">
                <a16:creationId xmlns:a16="http://schemas.microsoft.com/office/drawing/2014/main" id="{5476EC81-961B-38E3-AB01-BA7A573D8ABB}"/>
              </a:ext>
            </a:extLst>
          </p:cNvPr>
          <p:cNvPicPr>
            <a:picLocks noChangeAspect="1"/>
          </p:cNvPicPr>
          <p:nvPr/>
        </p:nvPicPr>
        <p:blipFill>
          <a:blip r:embed="rId3"/>
          <a:stretch>
            <a:fillRect/>
          </a:stretch>
        </p:blipFill>
        <p:spPr>
          <a:xfrm>
            <a:off x="6322524" y="4168790"/>
            <a:ext cx="5642952" cy="1680710"/>
          </a:xfrm>
          <a:prstGeom prst="rect">
            <a:avLst/>
          </a:prstGeom>
        </p:spPr>
      </p:pic>
    </p:spTree>
    <p:extLst>
      <p:ext uri="{BB962C8B-B14F-4D97-AF65-F5344CB8AC3E}">
        <p14:creationId xmlns:p14="http://schemas.microsoft.com/office/powerpoint/2010/main" val="358962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8B299-D98A-2FE6-F8FE-56FE0AC65059}"/>
              </a:ext>
            </a:extLst>
          </p:cNvPr>
          <p:cNvSpPr>
            <a:spLocks noGrp="1"/>
          </p:cNvSpPr>
          <p:nvPr>
            <p:ph type="title"/>
          </p:nvPr>
        </p:nvSpPr>
        <p:spPr/>
        <p:txBody>
          <a:bodyPr/>
          <a:lstStyle/>
          <a:p>
            <a:r>
              <a:rPr lang="en-US" b="1" dirty="0"/>
              <a:t>Camera Selection:</a:t>
            </a:r>
          </a:p>
        </p:txBody>
      </p:sp>
      <p:sp>
        <p:nvSpPr>
          <p:cNvPr id="3" name="Content Placeholder 2">
            <a:extLst>
              <a:ext uri="{FF2B5EF4-FFF2-40B4-BE49-F238E27FC236}">
                <a16:creationId xmlns:a16="http://schemas.microsoft.com/office/drawing/2014/main" id="{7841D583-63E7-200E-E3E3-502EBC16A25C}"/>
              </a:ext>
            </a:extLst>
          </p:cNvPr>
          <p:cNvSpPr>
            <a:spLocks noGrp="1"/>
          </p:cNvSpPr>
          <p:nvPr>
            <p:ph idx="1"/>
          </p:nvPr>
        </p:nvSpPr>
        <p:spPr/>
        <p:txBody>
          <a:bodyPr/>
          <a:lstStyle/>
          <a:p>
            <a:r>
              <a:rPr lang="en-US" dirty="0"/>
              <a:t>For Gaze tracking camera, there </a:t>
            </a:r>
            <a:r>
              <a:rPr lang="en-US" b="1" dirty="0"/>
              <a:t>MUST</a:t>
            </a:r>
            <a:r>
              <a:rPr lang="en-US" dirty="0"/>
              <a:t> be </a:t>
            </a:r>
            <a:r>
              <a:rPr lang="en-US" b="1" dirty="0"/>
              <a:t>two things </a:t>
            </a:r>
            <a:r>
              <a:rPr lang="en-US" dirty="0"/>
              <a:t>present:</a:t>
            </a:r>
          </a:p>
          <a:p>
            <a:pPr marL="914400" lvl="1" indent="-457200">
              <a:buAutoNum type="arabicPeriod"/>
            </a:pPr>
            <a:r>
              <a:rPr lang="en-US" dirty="0"/>
              <a:t>High camera sampling (</a:t>
            </a:r>
            <a:r>
              <a:rPr lang="en-US" dirty="0" err="1"/>
              <a:t>atleast</a:t>
            </a:r>
            <a:r>
              <a:rPr lang="en-US" dirty="0"/>
              <a:t> </a:t>
            </a:r>
            <a:r>
              <a:rPr lang="en-US" b="1" dirty="0"/>
              <a:t>120FPS</a:t>
            </a:r>
            <a:r>
              <a:rPr lang="en-US" dirty="0"/>
              <a:t>).</a:t>
            </a:r>
          </a:p>
          <a:p>
            <a:pPr marL="914400" lvl="1" indent="-457200">
              <a:buAutoNum type="arabicPeriod"/>
            </a:pPr>
            <a:r>
              <a:rPr lang="en-US" dirty="0"/>
              <a:t>Assisting </a:t>
            </a:r>
            <a:r>
              <a:rPr lang="en-US" b="1" dirty="0"/>
              <a:t>Infrared Lights</a:t>
            </a:r>
            <a:r>
              <a:rPr lang="en-US" dirty="0"/>
              <a:t> (to dispel screen reflections from the eye retinas).</a:t>
            </a:r>
          </a:p>
          <a:p>
            <a:pPr marL="914400" lvl="1" indent="-457200">
              <a:buAutoNum type="arabicPeriod"/>
            </a:pPr>
            <a:endParaRPr lang="en-US" dirty="0"/>
          </a:p>
          <a:p>
            <a:pPr marL="914400" lvl="1" indent="-457200">
              <a:buAutoNum type="arabicPeriod"/>
            </a:pPr>
            <a:endParaRPr lang="en-US" dirty="0"/>
          </a:p>
        </p:txBody>
      </p:sp>
    </p:spTree>
    <p:extLst>
      <p:ext uri="{BB962C8B-B14F-4D97-AF65-F5344CB8AC3E}">
        <p14:creationId xmlns:p14="http://schemas.microsoft.com/office/powerpoint/2010/main" val="3850537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767AC-9064-9083-FB0A-83BE1AEEE8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9ECC45-6C8E-E1FC-68F6-DA98AF46F633}"/>
              </a:ext>
            </a:extLst>
          </p:cNvPr>
          <p:cNvSpPr>
            <a:spLocks noGrp="1"/>
          </p:cNvSpPr>
          <p:nvPr>
            <p:ph type="title"/>
          </p:nvPr>
        </p:nvSpPr>
        <p:spPr/>
        <p:txBody>
          <a:bodyPr>
            <a:normAutofit fontScale="90000"/>
          </a:bodyPr>
          <a:lstStyle/>
          <a:p>
            <a:r>
              <a:rPr lang="en-US" b="1" dirty="0"/>
              <a:t>Team Learning &amp; Researching Objectives:</a:t>
            </a:r>
          </a:p>
        </p:txBody>
      </p:sp>
      <p:sp>
        <p:nvSpPr>
          <p:cNvPr id="3" name="Text Placeholder 2">
            <a:extLst>
              <a:ext uri="{FF2B5EF4-FFF2-40B4-BE49-F238E27FC236}">
                <a16:creationId xmlns:a16="http://schemas.microsoft.com/office/drawing/2014/main" id="{E80D4D01-2116-7B44-59C9-B331DB4C83A4}"/>
              </a:ext>
            </a:extLst>
          </p:cNvPr>
          <p:cNvSpPr>
            <a:spLocks noGrp="1"/>
          </p:cNvSpPr>
          <p:nvPr>
            <p:ph type="body" idx="1"/>
          </p:nvPr>
        </p:nvSpPr>
        <p:spPr/>
        <p:txBody>
          <a:bodyPr/>
          <a:lstStyle/>
          <a:p>
            <a:r>
              <a:rPr lang="en-US" dirty="0"/>
              <a:t>Software Developers:</a:t>
            </a:r>
          </a:p>
        </p:txBody>
      </p:sp>
      <p:sp>
        <p:nvSpPr>
          <p:cNvPr id="4" name="Content Placeholder 3">
            <a:extLst>
              <a:ext uri="{FF2B5EF4-FFF2-40B4-BE49-F238E27FC236}">
                <a16:creationId xmlns:a16="http://schemas.microsoft.com/office/drawing/2014/main" id="{F9D9224D-FDF8-FDBF-EA38-361122D8EB74}"/>
              </a:ext>
            </a:extLst>
          </p:cNvPr>
          <p:cNvSpPr>
            <a:spLocks noGrp="1"/>
          </p:cNvSpPr>
          <p:nvPr>
            <p:ph sz="half" idx="2"/>
          </p:nvPr>
        </p:nvSpPr>
        <p:spPr/>
        <p:txBody>
          <a:bodyPr>
            <a:normAutofit fontScale="92500" lnSpcReduction="10000"/>
          </a:bodyPr>
          <a:lstStyle/>
          <a:p>
            <a:r>
              <a:rPr lang="en-US" dirty="0"/>
              <a:t>Python 3.</a:t>
            </a:r>
          </a:p>
          <a:p>
            <a:r>
              <a:rPr lang="en-US" dirty="0" err="1"/>
              <a:t>PyQT</a:t>
            </a:r>
            <a:r>
              <a:rPr lang="en-US" dirty="0"/>
              <a:t>, Modern </a:t>
            </a:r>
            <a:r>
              <a:rPr lang="en-US" dirty="0" err="1"/>
              <a:t>Tkinter</a:t>
            </a:r>
            <a:r>
              <a:rPr lang="en-US" dirty="0"/>
              <a:t>, </a:t>
            </a:r>
            <a:r>
              <a:rPr lang="en-US" dirty="0" err="1"/>
              <a:t>Kivy</a:t>
            </a:r>
            <a:r>
              <a:rPr lang="en-US" dirty="0"/>
              <a:t>.</a:t>
            </a:r>
          </a:p>
          <a:p>
            <a:r>
              <a:rPr lang="en-US" dirty="0" err="1"/>
              <a:t>Pytts</a:t>
            </a:r>
            <a:r>
              <a:rPr lang="en-US" dirty="0"/>
              <a:t> and other related libraries. </a:t>
            </a:r>
          </a:p>
        </p:txBody>
      </p:sp>
      <p:sp>
        <p:nvSpPr>
          <p:cNvPr id="5" name="Text Placeholder 4">
            <a:extLst>
              <a:ext uri="{FF2B5EF4-FFF2-40B4-BE49-F238E27FC236}">
                <a16:creationId xmlns:a16="http://schemas.microsoft.com/office/drawing/2014/main" id="{C3A23D72-22D7-8EE3-57EA-C5FD6A33568F}"/>
              </a:ext>
            </a:extLst>
          </p:cNvPr>
          <p:cNvSpPr>
            <a:spLocks noGrp="1"/>
          </p:cNvSpPr>
          <p:nvPr>
            <p:ph type="body" sz="quarter" idx="3"/>
          </p:nvPr>
        </p:nvSpPr>
        <p:spPr/>
        <p:txBody>
          <a:bodyPr/>
          <a:lstStyle/>
          <a:p>
            <a:r>
              <a:rPr lang="en-US" dirty="0"/>
              <a:t>AI Developers:</a:t>
            </a:r>
          </a:p>
        </p:txBody>
      </p:sp>
      <p:sp>
        <p:nvSpPr>
          <p:cNvPr id="6" name="Content Placeholder 5">
            <a:extLst>
              <a:ext uri="{FF2B5EF4-FFF2-40B4-BE49-F238E27FC236}">
                <a16:creationId xmlns:a16="http://schemas.microsoft.com/office/drawing/2014/main" id="{93CCC2B3-0872-150F-5BD3-AB628CB536DE}"/>
              </a:ext>
            </a:extLst>
          </p:cNvPr>
          <p:cNvSpPr>
            <a:spLocks noGrp="1"/>
          </p:cNvSpPr>
          <p:nvPr>
            <p:ph sz="quarter" idx="4"/>
          </p:nvPr>
        </p:nvSpPr>
        <p:spPr/>
        <p:txBody>
          <a:bodyPr>
            <a:normAutofit fontScale="92500" lnSpcReduction="10000"/>
          </a:bodyPr>
          <a:lstStyle/>
          <a:p>
            <a:r>
              <a:rPr lang="en-US" dirty="0"/>
              <a:t>Python 3.</a:t>
            </a:r>
          </a:p>
          <a:p>
            <a:r>
              <a:rPr lang="en-US" dirty="0"/>
              <a:t>Computer Vision (CNNs – Object Detection – Image Segmentation &amp; other Techniques).</a:t>
            </a:r>
          </a:p>
          <a:p>
            <a:r>
              <a:rPr lang="en-US" dirty="0"/>
              <a:t>OpenCV.</a:t>
            </a:r>
          </a:p>
          <a:p>
            <a:r>
              <a:rPr lang="en-US" dirty="0"/>
              <a:t>Google </a:t>
            </a:r>
            <a:r>
              <a:rPr lang="en-US" dirty="0" err="1"/>
              <a:t>Mediapipe</a:t>
            </a:r>
            <a:r>
              <a:rPr lang="en-US" dirty="0"/>
              <a:t> (MAIN LIBRARY).</a:t>
            </a:r>
          </a:p>
        </p:txBody>
      </p:sp>
    </p:spTree>
    <p:extLst>
      <p:ext uri="{BB962C8B-B14F-4D97-AF65-F5344CB8AC3E}">
        <p14:creationId xmlns:p14="http://schemas.microsoft.com/office/powerpoint/2010/main" val="1252534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042301-567F-5C91-4150-9C9B756676B0}"/>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1A4588A-55D5-49B8-BE41-54ACDCFF2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75482C7-E6C1-C394-2D4C-ABA73952EDC5}"/>
              </a:ext>
            </a:extLst>
          </p:cNvPr>
          <p:cNvPicPr>
            <a:picLocks noChangeAspect="1"/>
          </p:cNvPicPr>
          <p:nvPr/>
        </p:nvPicPr>
        <p:blipFill>
          <a:blip r:embed="rId3"/>
          <a:srcRect t="3962" b="20511"/>
          <a:stretch>
            <a:fillRect/>
          </a:stretch>
        </p:blipFill>
        <p:spPr>
          <a:xfrm>
            <a:off x="20" y="10"/>
            <a:ext cx="12191980" cy="4465973"/>
          </a:xfrm>
          <a:prstGeom prst="rect">
            <a:avLst/>
          </a:prstGeom>
        </p:spPr>
      </p:pic>
      <p:sp>
        <p:nvSpPr>
          <p:cNvPr id="26" name="Rectangle: Rounded Corners 25">
            <a:extLst>
              <a:ext uri="{FF2B5EF4-FFF2-40B4-BE49-F238E27FC236}">
                <a16:creationId xmlns:a16="http://schemas.microsoft.com/office/drawing/2014/main" id="{F97E7EA2-EDCD-47E9-81BC-415C606D1B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119552"/>
            <a:ext cx="9382538" cy="685800"/>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41006D-3D48-705D-C85D-94854E4B8E9F}"/>
              </a:ext>
            </a:extLst>
          </p:cNvPr>
          <p:cNvSpPr>
            <a:spLocks noGrp="1"/>
          </p:cNvSpPr>
          <p:nvPr>
            <p:ph type="title"/>
          </p:nvPr>
        </p:nvSpPr>
        <p:spPr>
          <a:xfrm>
            <a:off x="566928" y="4203278"/>
            <a:ext cx="8557193" cy="536063"/>
          </a:xfrm>
        </p:spPr>
        <p:txBody>
          <a:bodyPr>
            <a:normAutofit/>
          </a:bodyPr>
          <a:lstStyle/>
          <a:p>
            <a:r>
              <a:rPr lang="en-US" sz="2800" b="1">
                <a:solidFill>
                  <a:schemeClr val="bg1"/>
                </a:solidFill>
              </a:rPr>
              <a:t>Google Mediapipe:</a:t>
            </a:r>
          </a:p>
        </p:txBody>
      </p:sp>
      <p:sp>
        <p:nvSpPr>
          <p:cNvPr id="9" name="Content Placeholder 8">
            <a:extLst>
              <a:ext uri="{FF2B5EF4-FFF2-40B4-BE49-F238E27FC236}">
                <a16:creationId xmlns:a16="http://schemas.microsoft.com/office/drawing/2014/main" id="{31098051-B118-1515-DEB7-0EB1A394CAE9}"/>
              </a:ext>
            </a:extLst>
          </p:cNvPr>
          <p:cNvSpPr>
            <a:spLocks noGrp="1"/>
          </p:cNvSpPr>
          <p:nvPr>
            <p:ph idx="1"/>
          </p:nvPr>
        </p:nvSpPr>
        <p:spPr>
          <a:xfrm>
            <a:off x="566928" y="4956314"/>
            <a:ext cx="11058144" cy="1306417"/>
          </a:xfrm>
        </p:spPr>
        <p:txBody>
          <a:bodyPr>
            <a:normAutofit/>
          </a:bodyPr>
          <a:lstStyle/>
          <a:p>
            <a:pPr marL="0" indent="0">
              <a:buNone/>
            </a:pPr>
            <a:r>
              <a:rPr lang="en-US" sz="1700" dirty="0"/>
              <a:t>This model can track </a:t>
            </a:r>
            <a:r>
              <a:rPr lang="en-US" sz="1700" b="1" dirty="0"/>
              <a:t>landmarks</a:t>
            </a:r>
            <a:r>
              <a:rPr lang="en-US" sz="1700" dirty="0"/>
              <a:t> involving the </a:t>
            </a:r>
            <a:r>
              <a:rPr lang="en-US" sz="1700" b="1" dirty="0"/>
              <a:t>iris</a:t>
            </a:r>
            <a:r>
              <a:rPr lang="en-US" sz="1700" dirty="0"/>
              <a:t>, </a:t>
            </a:r>
            <a:r>
              <a:rPr lang="en-US" sz="1700" b="1" dirty="0"/>
              <a:t>pupil</a:t>
            </a:r>
            <a:r>
              <a:rPr lang="en-US" sz="1700" dirty="0"/>
              <a:t> and the </a:t>
            </a:r>
            <a:r>
              <a:rPr lang="en-US" sz="1700" b="1" dirty="0"/>
              <a:t>eye contours </a:t>
            </a:r>
            <a:r>
              <a:rPr lang="en-US" sz="1700" dirty="0"/>
              <a:t>using a single RGB camera, </a:t>
            </a:r>
            <a:r>
              <a:rPr lang="en-US" sz="1700" b="1" dirty="0"/>
              <a:t>in real-time</a:t>
            </a:r>
            <a:r>
              <a:rPr lang="en-US" sz="1700" dirty="0"/>
              <a:t>, without the need for specialized hardware. Through use of iris landmarks, the model is also able to determine the metric distance between the subject and the camera with relative error less than 10% </a:t>
            </a:r>
            <a:r>
              <a:rPr lang="en-US" sz="1700" b="1" dirty="0"/>
              <a:t>without the use of depth sensor</a:t>
            </a:r>
            <a:r>
              <a:rPr lang="en-US" sz="1700" dirty="0"/>
              <a:t>.</a:t>
            </a:r>
          </a:p>
        </p:txBody>
      </p:sp>
    </p:spTree>
    <p:extLst>
      <p:ext uri="{BB962C8B-B14F-4D97-AF65-F5344CB8AC3E}">
        <p14:creationId xmlns:p14="http://schemas.microsoft.com/office/powerpoint/2010/main" val="25033496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E8A99-4408-B0F3-314C-B3F4C0493272}"/>
              </a:ext>
            </a:extLst>
          </p:cNvPr>
          <p:cNvSpPr>
            <a:spLocks noGrp="1"/>
          </p:cNvSpPr>
          <p:nvPr>
            <p:ph type="title"/>
          </p:nvPr>
        </p:nvSpPr>
        <p:spPr/>
        <p:txBody>
          <a:bodyPr/>
          <a:lstStyle/>
          <a:p>
            <a:r>
              <a:rPr lang="en-US" b="1" dirty="0"/>
              <a:t>Team structure:</a:t>
            </a:r>
          </a:p>
        </p:txBody>
      </p:sp>
      <p:sp>
        <p:nvSpPr>
          <p:cNvPr id="3" name="Text Placeholder 2">
            <a:extLst>
              <a:ext uri="{FF2B5EF4-FFF2-40B4-BE49-F238E27FC236}">
                <a16:creationId xmlns:a16="http://schemas.microsoft.com/office/drawing/2014/main" id="{9B75ED1B-E1B5-E6D1-F6C2-2FCC23E67790}"/>
              </a:ext>
            </a:extLst>
          </p:cNvPr>
          <p:cNvSpPr>
            <a:spLocks noGrp="1"/>
          </p:cNvSpPr>
          <p:nvPr>
            <p:ph type="body" idx="1"/>
          </p:nvPr>
        </p:nvSpPr>
        <p:spPr/>
        <p:txBody>
          <a:bodyPr/>
          <a:lstStyle/>
          <a:p>
            <a:r>
              <a:rPr lang="en-US" dirty="0"/>
              <a:t>Software Developers</a:t>
            </a:r>
          </a:p>
        </p:txBody>
      </p:sp>
      <p:sp>
        <p:nvSpPr>
          <p:cNvPr id="4" name="Content Placeholder 3">
            <a:extLst>
              <a:ext uri="{FF2B5EF4-FFF2-40B4-BE49-F238E27FC236}">
                <a16:creationId xmlns:a16="http://schemas.microsoft.com/office/drawing/2014/main" id="{FD3F40DF-34C1-4F49-2D4D-11A6A75E2DA4}"/>
              </a:ext>
            </a:extLst>
          </p:cNvPr>
          <p:cNvSpPr>
            <a:spLocks noGrp="1"/>
          </p:cNvSpPr>
          <p:nvPr>
            <p:ph sz="half" idx="2"/>
          </p:nvPr>
        </p:nvSpPr>
        <p:spPr/>
        <p:txBody>
          <a:bodyPr>
            <a:normAutofit lnSpcReduction="10000"/>
          </a:bodyPr>
          <a:lstStyle/>
          <a:p>
            <a:r>
              <a:rPr lang="en-US" dirty="0"/>
              <a:t>Fatma Ahmed </a:t>
            </a:r>
            <a:r>
              <a:rPr lang="en-US" dirty="0" err="1"/>
              <a:t>Elawady</a:t>
            </a:r>
            <a:endParaRPr lang="en-US" dirty="0"/>
          </a:p>
          <a:p>
            <a:r>
              <a:rPr lang="en-US" dirty="0"/>
              <a:t>Hassan Abd </a:t>
            </a:r>
            <a:r>
              <a:rPr lang="en-US" dirty="0" err="1"/>
              <a:t>Elsalam</a:t>
            </a:r>
            <a:endParaRPr lang="en-US" dirty="0"/>
          </a:p>
          <a:p>
            <a:r>
              <a:rPr lang="en-US" dirty="0"/>
              <a:t>Hagar Mohamed</a:t>
            </a:r>
          </a:p>
          <a:p>
            <a:r>
              <a:rPr lang="en-US" dirty="0"/>
              <a:t>Andrew Emad</a:t>
            </a:r>
          </a:p>
          <a:p>
            <a:r>
              <a:rPr lang="en-US" dirty="0"/>
              <a:t>Zyad </a:t>
            </a:r>
            <a:r>
              <a:rPr lang="en-US" dirty="0" err="1"/>
              <a:t>Refaie</a:t>
            </a:r>
            <a:r>
              <a:rPr lang="en-US" dirty="0"/>
              <a:t> Abu </a:t>
            </a:r>
            <a:r>
              <a:rPr lang="en-US" dirty="0" err="1"/>
              <a:t>Alftooh</a:t>
            </a:r>
            <a:r>
              <a:rPr lang="en-US" dirty="0"/>
              <a:t> (Software Leader)</a:t>
            </a:r>
          </a:p>
        </p:txBody>
      </p:sp>
      <p:sp>
        <p:nvSpPr>
          <p:cNvPr id="5" name="Text Placeholder 4">
            <a:extLst>
              <a:ext uri="{FF2B5EF4-FFF2-40B4-BE49-F238E27FC236}">
                <a16:creationId xmlns:a16="http://schemas.microsoft.com/office/drawing/2014/main" id="{B6EF5DEB-F33F-598D-EEAD-801DC767BE03}"/>
              </a:ext>
            </a:extLst>
          </p:cNvPr>
          <p:cNvSpPr>
            <a:spLocks noGrp="1"/>
          </p:cNvSpPr>
          <p:nvPr>
            <p:ph type="body" sz="quarter" idx="3"/>
          </p:nvPr>
        </p:nvSpPr>
        <p:spPr/>
        <p:txBody>
          <a:bodyPr/>
          <a:lstStyle/>
          <a:p>
            <a:r>
              <a:rPr lang="en-US" dirty="0"/>
              <a:t>AI Developers</a:t>
            </a:r>
          </a:p>
        </p:txBody>
      </p:sp>
      <p:sp>
        <p:nvSpPr>
          <p:cNvPr id="6" name="Content Placeholder 5">
            <a:extLst>
              <a:ext uri="{FF2B5EF4-FFF2-40B4-BE49-F238E27FC236}">
                <a16:creationId xmlns:a16="http://schemas.microsoft.com/office/drawing/2014/main" id="{EA101FDD-5E55-AF7B-A96B-6EDC73254494}"/>
              </a:ext>
            </a:extLst>
          </p:cNvPr>
          <p:cNvSpPr>
            <a:spLocks noGrp="1"/>
          </p:cNvSpPr>
          <p:nvPr>
            <p:ph sz="quarter" idx="4"/>
          </p:nvPr>
        </p:nvSpPr>
        <p:spPr/>
        <p:txBody>
          <a:bodyPr>
            <a:normAutofit lnSpcReduction="10000"/>
          </a:bodyPr>
          <a:lstStyle/>
          <a:p>
            <a:r>
              <a:rPr lang="en-US" dirty="0"/>
              <a:t>Basel Mohamed Mostafa (AI Leader)</a:t>
            </a:r>
          </a:p>
          <a:p>
            <a:r>
              <a:rPr lang="en-US" dirty="0"/>
              <a:t>Hussein Hisham Ali</a:t>
            </a:r>
          </a:p>
          <a:p>
            <a:r>
              <a:rPr lang="en-US" dirty="0"/>
              <a:t>Mohamed Ahmed Abd Elnour</a:t>
            </a:r>
          </a:p>
          <a:p>
            <a:r>
              <a:rPr lang="en-US" dirty="0"/>
              <a:t>Abdullah Sayed Mohamed</a:t>
            </a:r>
          </a:p>
          <a:p>
            <a:r>
              <a:rPr lang="en-US" dirty="0"/>
              <a:t>Mariam Nashaat Bishry</a:t>
            </a:r>
          </a:p>
          <a:p>
            <a:endParaRPr lang="en-US" dirty="0"/>
          </a:p>
        </p:txBody>
      </p:sp>
    </p:spTree>
    <p:extLst>
      <p:ext uri="{BB962C8B-B14F-4D97-AF65-F5344CB8AC3E}">
        <p14:creationId xmlns:p14="http://schemas.microsoft.com/office/powerpoint/2010/main" val="6957053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9" name="Freeform: Shape 18">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chemeClr val="tx2">
                <a:lumMod val="10000"/>
                <a:lumOff val="90000"/>
              </a:schemeClr>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1" name="Freeform: Shape 20">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9D67208-1574-1B7C-6E2D-10B72D49CE94}"/>
              </a:ext>
            </a:extLst>
          </p:cNvPr>
          <p:cNvSpPr>
            <a:spLocks noGrp="1"/>
          </p:cNvSpPr>
          <p:nvPr>
            <p:ph type="title"/>
          </p:nvPr>
        </p:nvSpPr>
        <p:spPr>
          <a:xfrm>
            <a:off x="621792" y="1161288"/>
            <a:ext cx="3602736" cy="4526280"/>
          </a:xfrm>
        </p:spPr>
        <p:txBody>
          <a:bodyPr>
            <a:normAutofit/>
          </a:bodyPr>
          <a:lstStyle/>
          <a:p>
            <a:r>
              <a:rPr lang="en-US" b="1" dirty="0"/>
              <a:t>Expected outcomes &amp; Impact:</a:t>
            </a:r>
          </a:p>
        </p:txBody>
      </p:sp>
      <p:sp>
        <p:nvSpPr>
          <p:cNvPr id="23" name="Rectangle 22">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71D0D6B-3422-7F54-FDA7-586A027281CA}"/>
              </a:ext>
            </a:extLst>
          </p:cNvPr>
          <p:cNvSpPr>
            <a:spLocks noGrp="1"/>
          </p:cNvSpPr>
          <p:nvPr>
            <p:ph idx="1"/>
          </p:nvPr>
        </p:nvSpPr>
        <p:spPr>
          <a:xfrm>
            <a:off x="5434149" y="932688"/>
            <a:ext cx="5916603" cy="4992624"/>
          </a:xfrm>
        </p:spPr>
        <p:txBody>
          <a:bodyPr anchor="ctr">
            <a:normAutofit/>
          </a:bodyPr>
          <a:lstStyle/>
          <a:p>
            <a:pPr>
              <a:lnSpc>
                <a:spcPct val="100000"/>
              </a:lnSpc>
            </a:pPr>
            <a:r>
              <a:rPr lang="en-US" sz="2000" b="1" dirty="0"/>
              <a:t>Technical Deliverables:</a:t>
            </a:r>
          </a:p>
          <a:p>
            <a:pPr marL="457200" indent="-457200">
              <a:lnSpc>
                <a:spcPct val="100000"/>
              </a:lnSpc>
              <a:buFont typeface="+mj-lt"/>
              <a:buAutoNum type="arabicPeriod"/>
            </a:pPr>
            <a:r>
              <a:rPr lang="en-US" sz="2000" dirty="0"/>
              <a:t>Working eye-tracking prototype</a:t>
            </a:r>
          </a:p>
          <a:p>
            <a:pPr marL="457200" indent="-457200">
              <a:lnSpc>
                <a:spcPct val="100000"/>
              </a:lnSpc>
              <a:buFont typeface="+mj-lt"/>
              <a:buAutoNum type="arabicPeriod"/>
            </a:pPr>
            <a:r>
              <a:rPr lang="en-US" sz="2000" dirty="0"/>
              <a:t>Optimized virtual keyboard software</a:t>
            </a:r>
          </a:p>
          <a:p>
            <a:pPr marL="457200" indent="-457200">
              <a:lnSpc>
                <a:spcPct val="100000"/>
              </a:lnSpc>
              <a:buFont typeface="+mj-lt"/>
              <a:buAutoNum type="arabicPeriod"/>
            </a:pPr>
            <a:r>
              <a:rPr lang="en-US" sz="2000" dirty="0"/>
              <a:t>Portable hardware unit</a:t>
            </a:r>
          </a:p>
          <a:p>
            <a:pPr marL="457200" indent="-457200">
              <a:lnSpc>
                <a:spcPct val="100000"/>
              </a:lnSpc>
              <a:buFont typeface="+mj-lt"/>
              <a:buAutoNum type="arabicPeriod"/>
            </a:pPr>
            <a:r>
              <a:rPr lang="en-US" sz="2000" dirty="0"/>
              <a:t>Comprehensive documentation</a:t>
            </a:r>
          </a:p>
          <a:p>
            <a:pPr>
              <a:lnSpc>
                <a:spcPct val="100000"/>
              </a:lnSpc>
            </a:pPr>
            <a:endParaRPr lang="en-US" sz="2000" dirty="0"/>
          </a:p>
          <a:p>
            <a:pPr>
              <a:lnSpc>
                <a:spcPct val="100000"/>
              </a:lnSpc>
            </a:pPr>
            <a:r>
              <a:rPr lang="en-US" sz="2000" b="1" dirty="0"/>
              <a:t>Social Impact:</a:t>
            </a:r>
          </a:p>
          <a:p>
            <a:pPr marL="457200" indent="-457200">
              <a:lnSpc>
                <a:spcPct val="100000"/>
              </a:lnSpc>
              <a:buFont typeface="+mj-lt"/>
              <a:buAutoNum type="arabicPeriod"/>
            </a:pPr>
            <a:r>
              <a:rPr lang="en-US" sz="2000" dirty="0"/>
              <a:t>Affordable communication solution</a:t>
            </a:r>
          </a:p>
          <a:p>
            <a:pPr marL="457200" indent="-457200">
              <a:lnSpc>
                <a:spcPct val="100000"/>
              </a:lnSpc>
              <a:buFont typeface="+mj-lt"/>
              <a:buAutoNum type="arabicPeriod"/>
            </a:pPr>
            <a:r>
              <a:rPr lang="en-US" sz="2000" dirty="0"/>
              <a:t>Open-source potential</a:t>
            </a:r>
          </a:p>
          <a:p>
            <a:pPr marL="457200" indent="-457200">
              <a:lnSpc>
                <a:spcPct val="100000"/>
              </a:lnSpc>
              <a:buFont typeface="+mj-lt"/>
              <a:buAutoNum type="arabicPeriod"/>
            </a:pPr>
            <a:r>
              <a:rPr lang="en-US" sz="2000" dirty="0"/>
              <a:t>Improved quality of life for users</a:t>
            </a:r>
          </a:p>
          <a:p>
            <a:pPr marL="457200" indent="-457200">
              <a:lnSpc>
                <a:spcPct val="100000"/>
              </a:lnSpc>
              <a:buFont typeface="+mj-lt"/>
              <a:buAutoNum type="arabicPeriod"/>
            </a:pPr>
            <a:r>
              <a:rPr lang="en-US" sz="2000" dirty="0"/>
              <a:t>Foundation for future enhancements</a:t>
            </a:r>
          </a:p>
        </p:txBody>
      </p:sp>
    </p:spTree>
    <p:extLst>
      <p:ext uri="{BB962C8B-B14F-4D97-AF65-F5344CB8AC3E}">
        <p14:creationId xmlns:p14="http://schemas.microsoft.com/office/powerpoint/2010/main" val="1057539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A0844D6-F81A-E387-19DA-0AEA7D5321A6}"/>
              </a:ext>
            </a:extLst>
          </p:cNvPr>
          <p:cNvSpPr/>
          <p:nvPr/>
        </p:nvSpPr>
        <p:spPr>
          <a:xfrm>
            <a:off x="3215230" y="2646369"/>
            <a:ext cx="5761539" cy="1268361"/>
          </a:xfrm>
          <a:prstGeom prst="rect">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D4469458-955A-7BA9-888B-C84F779A2A17}"/>
              </a:ext>
            </a:extLst>
          </p:cNvPr>
          <p:cNvSpPr txBox="1"/>
          <p:nvPr/>
        </p:nvSpPr>
        <p:spPr>
          <a:xfrm>
            <a:off x="2941319" y="2818884"/>
            <a:ext cx="6309360" cy="923330"/>
          </a:xfrm>
          <a:prstGeom prst="rect">
            <a:avLst/>
          </a:prstGeom>
          <a:noFill/>
        </p:spPr>
        <p:txBody>
          <a:bodyPr wrap="square" rtlCol="0">
            <a:spAutoFit/>
          </a:bodyPr>
          <a:lstStyle/>
          <a:p>
            <a:pPr algn="ctr"/>
            <a:r>
              <a:rPr lang="en-US" sz="5400" b="1" dirty="0">
                <a:solidFill>
                  <a:srgbClr val="002060"/>
                </a:solidFill>
              </a:rPr>
              <a:t>End of Lecture</a:t>
            </a:r>
          </a:p>
        </p:txBody>
      </p:sp>
      <p:sp>
        <p:nvSpPr>
          <p:cNvPr id="6" name="TextBox 5">
            <a:extLst>
              <a:ext uri="{FF2B5EF4-FFF2-40B4-BE49-F238E27FC236}">
                <a16:creationId xmlns:a16="http://schemas.microsoft.com/office/drawing/2014/main" id="{0F9231F0-0846-0CAB-7DD5-8EEE72AF9C16}"/>
              </a:ext>
            </a:extLst>
          </p:cNvPr>
          <p:cNvSpPr txBox="1"/>
          <p:nvPr/>
        </p:nvSpPr>
        <p:spPr>
          <a:xfrm>
            <a:off x="2880769" y="4087245"/>
            <a:ext cx="6096000" cy="707886"/>
          </a:xfrm>
          <a:prstGeom prst="rect">
            <a:avLst/>
          </a:prstGeom>
          <a:noFill/>
        </p:spPr>
        <p:txBody>
          <a:bodyPr wrap="square">
            <a:spAutoFit/>
          </a:bodyPr>
          <a:lstStyle/>
          <a:p>
            <a:pPr algn="ctr"/>
            <a:r>
              <a:rPr lang="en-US" sz="4000" b="1" dirty="0">
                <a:solidFill>
                  <a:srgbClr val="92D050"/>
                </a:solidFill>
              </a:rPr>
              <a:t>Thank You</a:t>
            </a:r>
          </a:p>
        </p:txBody>
      </p:sp>
    </p:spTree>
    <p:extLst>
      <p:ext uri="{BB962C8B-B14F-4D97-AF65-F5344CB8AC3E}">
        <p14:creationId xmlns:p14="http://schemas.microsoft.com/office/powerpoint/2010/main" val="332334840"/>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254</TotalTime>
  <Words>366</Words>
  <Application>Microsoft Office PowerPoint</Application>
  <PresentationFormat>Widescreen</PresentationFormat>
  <Paragraphs>66</Paragraphs>
  <Slides>12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Arial</vt:lpstr>
      <vt:lpstr>Avenir Next LT Pro</vt:lpstr>
      <vt:lpstr>Calibri</vt:lpstr>
      <vt:lpstr>AccentBoxVTI</vt:lpstr>
      <vt:lpstr>EyeTalk</vt:lpstr>
      <vt:lpstr>Challenges:</vt:lpstr>
      <vt:lpstr>Solution:</vt:lpstr>
      <vt:lpstr>PowerPoint Presentation</vt:lpstr>
      <vt:lpstr>PowerPoint Presentation</vt:lpstr>
      <vt:lpstr>Hardware stack:</vt:lpstr>
      <vt:lpstr>Camera Selection:</vt:lpstr>
      <vt:lpstr>Team Learning &amp; Researching Objectives:</vt:lpstr>
      <vt:lpstr>Google Mediapipe:</vt:lpstr>
      <vt:lpstr>Team structure:</vt:lpstr>
      <vt:lpstr>Expected outcomes &amp; Impact: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eng.2021001</dc:creator>
  <cp:lastModifiedBy>Basel M. Mostafa Sayed</cp:lastModifiedBy>
  <cp:revision>12</cp:revision>
  <dcterms:created xsi:type="dcterms:W3CDTF">2025-10-29T15:05:51Z</dcterms:created>
  <dcterms:modified xsi:type="dcterms:W3CDTF">2026-02-14T19:11:39Z</dcterms:modified>
</cp:coreProperties>
</file>