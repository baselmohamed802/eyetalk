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9799BE-5780-4B6F-B05B-CEB9830839AF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20FA002-BECD-4C9A-B25C-9D21BD3EB1D9}">
      <dgm:prSet/>
      <dgm:spPr/>
      <dgm:t>
        <a:bodyPr/>
        <a:lstStyle/>
        <a:p>
          <a:r>
            <a:rPr lang="en-US"/>
            <a:t>Fully disabled individuals (ALS, Paralysis, locked-in syndrome) lose the miracle of communication.</a:t>
          </a:r>
        </a:p>
      </dgm:t>
    </dgm:pt>
    <dgm:pt modelId="{C0DE9851-FB2D-4B16-B72C-FE0BDB819C5E}" type="parTrans" cxnId="{54815873-FF18-42B2-94D7-5E0E26B582B0}">
      <dgm:prSet/>
      <dgm:spPr/>
      <dgm:t>
        <a:bodyPr/>
        <a:lstStyle/>
        <a:p>
          <a:endParaRPr lang="en-US"/>
        </a:p>
      </dgm:t>
    </dgm:pt>
    <dgm:pt modelId="{3528C065-D83E-4E7E-B91B-C1F5A2EC5769}" type="sibTrans" cxnId="{54815873-FF18-42B2-94D7-5E0E26B582B0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0ADD596A-301B-498C-A621-68541C98862D}">
      <dgm:prSet/>
      <dgm:spPr/>
      <dgm:t>
        <a:bodyPr/>
        <a:lstStyle/>
        <a:p>
          <a:r>
            <a:rPr lang="en-US"/>
            <a:t>Existing solutions are often bulky and expensive.</a:t>
          </a:r>
        </a:p>
      </dgm:t>
    </dgm:pt>
    <dgm:pt modelId="{8EE4A56F-64E0-4810-B150-5B5089840393}" type="parTrans" cxnId="{6EEA0937-8AE9-451D-8567-2FC711087DF5}">
      <dgm:prSet/>
      <dgm:spPr/>
      <dgm:t>
        <a:bodyPr/>
        <a:lstStyle/>
        <a:p>
          <a:endParaRPr lang="en-US"/>
        </a:p>
      </dgm:t>
    </dgm:pt>
    <dgm:pt modelId="{5A9E5D47-80EE-4DEE-AAE4-616A264D5889}" type="sibTrans" cxnId="{6EEA0937-8AE9-451D-8567-2FC711087DF5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BBAD85AC-8609-4C50-A1F8-F016F3551ECE}">
      <dgm:prSet/>
      <dgm:spPr/>
      <dgm:t>
        <a:bodyPr/>
        <a:lstStyle/>
        <a:p>
          <a:r>
            <a:rPr lang="en-US"/>
            <a:t>Limited access to affordable communication technology in Egypt.</a:t>
          </a:r>
        </a:p>
      </dgm:t>
    </dgm:pt>
    <dgm:pt modelId="{67250CB7-DAE3-4DBB-AAF9-D88B1EE2E3C4}" type="parTrans" cxnId="{371425D4-12D6-425C-80EC-A3A6E532D33B}">
      <dgm:prSet/>
      <dgm:spPr/>
      <dgm:t>
        <a:bodyPr/>
        <a:lstStyle/>
        <a:p>
          <a:endParaRPr lang="en-US"/>
        </a:p>
      </dgm:t>
    </dgm:pt>
    <dgm:pt modelId="{AB4041F6-D175-4FFF-80E2-433727551D91}" type="sibTrans" cxnId="{371425D4-12D6-425C-80EC-A3A6E532D33B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E333A522-5CAF-4438-8DCF-5E3EA90685FB}" type="pres">
      <dgm:prSet presAssocID="{919799BE-5780-4B6F-B05B-CEB9830839AF}" presName="Name0" presStyleCnt="0">
        <dgm:presLayoutVars>
          <dgm:animLvl val="lvl"/>
          <dgm:resizeHandles val="exact"/>
        </dgm:presLayoutVars>
      </dgm:prSet>
      <dgm:spPr/>
    </dgm:pt>
    <dgm:pt modelId="{1475837B-0DB4-45AB-B85A-001D58C8DF6C}" type="pres">
      <dgm:prSet presAssocID="{920FA002-BECD-4C9A-B25C-9D21BD3EB1D9}" presName="compositeNode" presStyleCnt="0">
        <dgm:presLayoutVars>
          <dgm:bulletEnabled val="1"/>
        </dgm:presLayoutVars>
      </dgm:prSet>
      <dgm:spPr/>
    </dgm:pt>
    <dgm:pt modelId="{FA2FCABC-9B8D-4D53-8852-E8D30CDFA8D2}" type="pres">
      <dgm:prSet presAssocID="{920FA002-BECD-4C9A-B25C-9D21BD3EB1D9}" presName="bgRect" presStyleLbl="alignNode1" presStyleIdx="0" presStyleCnt="3"/>
      <dgm:spPr/>
    </dgm:pt>
    <dgm:pt modelId="{7E5090B8-78D0-47D5-84AE-99D506C1E932}" type="pres">
      <dgm:prSet presAssocID="{3528C065-D83E-4E7E-B91B-C1F5A2EC5769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463D79CF-E95B-489F-8FC2-7AC49F0468DF}" type="pres">
      <dgm:prSet presAssocID="{920FA002-BECD-4C9A-B25C-9D21BD3EB1D9}" presName="nodeRect" presStyleLbl="alignNode1" presStyleIdx="0" presStyleCnt="3">
        <dgm:presLayoutVars>
          <dgm:bulletEnabled val="1"/>
        </dgm:presLayoutVars>
      </dgm:prSet>
      <dgm:spPr/>
    </dgm:pt>
    <dgm:pt modelId="{98E3FC34-54CA-47DC-8596-E7ED110E41E9}" type="pres">
      <dgm:prSet presAssocID="{3528C065-D83E-4E7E-B91B-C1F5A2EC5769}" presName="sibTrans" presStyleCnt="0"/>
      <dgm:spPr/>
    </dgm:pt>
    <dgm:pt modelId="{D0C9703C-DBDA-4A12-B2E1-A38E3E8E7E35}" type="pres">
      <dgm:prSet presAssocID="{0ADD596A-301B-498C-A621-68541C98862D}" presName="compositeNode" presStyleCnt="0">
        <dgm:presLayoutVars>
          <dgm:bulletEnabled val="1"/>
        </dgm:presLayoutVars>
      </dgm:prSet>
      <dgm:spPr/>
    </dgm:pt>
    <dgm:pt modelId="{A552E7A5-303C-4A79-A1FB-3F041ACFB98C}" type="pres">
      <dgm:prSet presAssocID="{0ADD596A-301B-498C-A621-68541C98862D}" presName="bgRect" presStyleLbl="alignNode1" presStyleIdx="1" presStyleCnt="3"/>
      <dgm:spPr/>
    </dgm:pt>
    <dgm:pt modelId="{5E152767-F7D3-45B9-9E83-34EE4A150FB1}" type="pres">
      <dgm:prSet presAssocID="{5A9E5D47-80EE-4DEE-AAE4-616A264D5889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271F1CCE-D0DB-46B3-AD39-AB12F29394F3}" type="pres">
      <dgm:prSet presAssocID="{0ADD596A-301B-498C-A621-68541C98862D}" presName="nodeRect" presStyleLbl="alignNode1" presStyleIdx="1" presStyleCnt="3">
        <dgm:presLayoutVars>
          <dgm:bulletEnabled val="1"/>
        </dgm:presLayoutVars>
      </dgm:prSet>
      <dgm:spPr/>
    </dgm:pt>
    <dgm:pt modelId="{677C6943-9CC4-4867-A987-C6E8138B00F4}" type="pres">
      <dgm:prSet presAssocID="{5A9E5D47-80EE-4DEE-AAE4-616A264D5889}" presName="sibTrans" presStyleCnt="0"/>
      <dgm:spPr/>
    </dgm:pt>
    <dgm:pt modelId="{FCC1F451-5571-46F7-8550-802CBADDDE66}" type="pres">
      <dgm:prSet presAssocID="{BBAD85AC-8609-4C50-A1F8-F016F3551ECE}" presName="compositeNode" presStyleCnt="0">
        <dgm:presLayoutVars>
          <dgm:bulletEnabled val="1"/>
        </dgm:presLayoutVars>
      </dgm:prSet>
      <dgm:spPr/>
    </dgm:pt>
    <dgm:pt modelId="{C68E060B-CBCA-418D-8DFB-126CBD149DEA}" type="pres">
      <dgm:prSet presAssocID="{BBAD85AC-8609-4C50-A1F8-F016F3551ECE}" presName="bgRect" presStyleLbl="alignNode1" presStyleIdx="2" presStyleCnt="3"/>
      <dgm:spPr/>
    </dgm:pt>
    <dgm:pt modelId="{7001A056-02B5-4B93-90B1-BDCC9B79BDB0}" type="pres">
      <dgm:prSet presAssocID="{AB4041F6-D175-4FFF-80E2-433727551D91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E59620F1-0541-4C77-803E-77589015F21D}" type="pres">
      <dgm:prSet presAssocID="{BBAD85AC-8609-4C50-A1F8-F016F3551ECE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0B086720-2772-4E93-AD09-BF2CB24DD84F}" type="presOf" srcId="{919799BE-5780-4B6F-B05B-CEB9830839AF}" destId="{E333A522-5CAF-4438-8DCF-5E3EA90685FB}" srcOrd="0" destOrd="0" presId="urn:microsoft.com/office/officeart/2016/7/layout/LinearBlockProcessNumbered"/>
    <dgm:cxn modelId="{F09C6026-47DB-4043-8474-A3E779508068}" type="presOf" srcId="{5A9E5D47-80EE-4DEE-AAE4-616A264D5889}" destId="{5E152767-F7D3-45B9-9E83-34EE4A150FB1}" srcOrd="0" destOrd="0" presId="urn:microsoft.com/office/officeart/2016/7/layout/LinearBlockProcessNumbered"/>
    <dgm:cxn modelId="{6EEA0937-8AE9-451D-8567-2FC711087DF5}" srcId="{919799BE-5780-4B6F-B05B-CEB9830839AF}" destId="{0ADD596A-301B-498C-A621-68541C98862D}" srcOrd="1" destOrd="0" parTransId="{8EE4A56F-64E0-4810-B150-5B5089840393}" sibTransId="{5A9E5D47-80EE-4DEE-AAE4-616A264D5889}"/>
    <dgm:cxn modelId="{863F8262-AB7F-496A-AFE8-C90593275EFF}" type="presOf" srcId="{BBAD85AC-8609-4C50-A1F8-F016F3551ECE}" destId="{E59620F1-0541-4C77-803E-77589015F21D}" srcOrd="1" destOrd="0" presId="urn:microsoft.com/office/officeart/2016/7/layout/LinearBlockProcessNumbered"/>
    <dgm:cxn modelId="{54815873-FF18-42B2-94D7-5E0E26B582B0}" srcId="{919799BE-5780-4B6F-B05B-CEB9830839AF}" destId="{920FA002-BECD-4C9A-B25C-9D21BD3EB1D9}" srcOrd="0" destOrd="0" parTransId="{C0DE9851-FB2D-4B16-B72C-FE0BDB819C5E}" sibTransId="{3528C065-D83E-4E7E-B91B-C1F5A2EC5769}"/>
    <dgm:cxn modelId="{8EBCEE73-51B6-4A3E-858C-E76DC2648514}" type="presOf" srcId="{0ADD596A-301B-498C-A621-68541C98862D}" destId="{A552E7A5-303C-4A79-A1FB-3F041ACFB98C}" srcOrd="0" destOrd="0" presId="urn:microsoft.com/office/officeart/2016/7/layout/LinearBlockProcessNumbered"/>
    <dgm:cxn modelId="{077CB68B-C36E-4242-B57D-D8A8F72D6294}" type="presOf" srcId="{AB4041F6-D175-4FFF-80E2-433727551D91}" destId="{7001A056-02B5-4B93-90B1-BDCC9B79BDB0}" srcOrd="0" destOrd="0" presId="urn:microsoft.com/office/officeart/2016/7/layout/LinearBlockProcessNumbered"/>
    <dgm:cxn modelId="{3F2726A4-564C-432B-A588-AAF98CE9056F}" type="presOf" srcId="{0ADD596A-301B-498C-A621-68541C98862D}" destId="{271F1CCE-D0DB-46B3-AD39-AB12F29394F3}" srcOrd="1" destOrd="0" presId="urn:microsoft.com/office/officeart/2016/7/layout/LinearBlockProcessNumbered"/>
    <dgm:cxn modelId="{371425D4-12D6-425C-80EC-A3A6E532D33B}" srcId="{919799BE-5780-4B6F-B05B-CEB9830839AF}" destId="{BBAD85AC-8609-4C50-A1F8-F016F3551ECE}" srcOrd="2" destOrd="0" parTransId="{67250CB7-DAE3-4DBB-AAF9-D88B1EE2E3C4}" sibTransId="{AB4041F6-D175-4FFF-80E2-433727551D91}"/>
    <dgm:cxn modelId="{C90533DB-FC41-4F03-951D-0E23ED683A67}" type="presOf" srcId="{920FA002-BECD-4C9A-B25C-9D21BD3EB1D9}" destId="{463D79CF-E95B-489F-8FC2-7AC49F0468DF}" srcOrd="1" destOrd="0" presId="urn:microsoft.com/office/officeart/2016/7/layout/LinearBlockProcessNumbered"/>
    <dgm:cxn modelId="{D7F8B2DC-A770-4760-86AF-4F2FB80266AD}" type="presOf" srcId="{BBAD85AC-8609-4C50-A1F8-F016F3551ECE}" destId="{C68E060B-CBCA-418D-8DFB-126CBD149DEA}" srcOrd="0" destOrd="0" presId="urn:microsoft.com/office/officeart/2016/7/layout/LinearBlockProcessNumbered"/>
    <dgm:cxn modelId="{3E2DD5F6-2EBD-4114-8072-36E541B1C22C}" type="presOf" srcId="{920FA002-BECD-4C9A-B25C-9D21BD3EB1D9}" destId="{FA2FCABC-9B8D-4D53-8852-E8D30CDFA8D2}" srcOrd="0" destOrd="0" presId="urn:microsoft.com/office/officeart/2016/7/layout/LinearBlockProcessNumbered"/>
    <dgm:cxn modelId="{6ACC99FD-2B17-4E8A-B9F6-F9541B1760ED}" type="presOf" srcId="{3528C065-D83E-4E7E-B91B-C1F5A2EC5769}" destId="{7E5090B8-78D0-47D5-84AE-99D506C1E932}" srcOrd="0" destOrd="0" presId="urn:microsoft.com/office/officeart/2016/7/layout/LinearBlockProcessNumbered"/>
    <dgm:cxn modelId="{AD360DF2-0CFB-4BD4-B6A9-3759A7DA2BFF}" type="presParOf" srcId="{E333A522-5CAF-4438-8DCF-5E3EA90685FB}" destId="{1475837B-0DB4-45AB-B85A-001D58C8DF6C}" srcOrd="0" destOrd="0" presId="urn:microsoft.com/office/officeart/2016/7/layout/LinearBlockProcessNumbered"/>
    <dgm:cxn modelId="{C4C6B1F4-D570-4A95-9242-3E44CEBFC509}" type="presParOf" srcId="{1475837B-0DB4-45AB-B85A-001D58C8DF6C}" destId="{FA2FCABC-9B8D-4D53-8852-E8D30CDFA8D2}" srcOrd="0" destOrd="0" presId="urn:microsoft.com/office/officeart/2016/7/layout/LinearBlockProcessNumbered"/>
    <dgm:cxn modelId="{18EB0350-24B7-437C-A5B0-978E229BBCC6}" type="presParOf" srcId="{1475837B-0DB4-45AB-B85A-001D58C8DF6C}" destId="{7E5090B8-78D0-47D5-84AE-99D506C1E932}" srcOrd="1" destOrd="0" presId="urn:microsoft.com/office/officeart/2016/7/layout/LinearBlockProcessNumbered"/>
    <dgm:cxn modelId="{F3ADDB2E-DAE8-4316-B68B-9FEF20DE71D8}" type="presParOf" srcId="{1475837B-0DB4-45AB-B85A-001D58C8DF6C}" destId="{463D79CF-E95B-489F-8FC2-7AC49F0468DF}" srcOrd="2" destOrd="0" presId="urn:microsoft.com/office/officeart/2016/7/layout/LinearBlockProcessNumbered"/>
    <dgm:cxn modelId="{E8942FC3-3618-4FD6-B86D-51E482CC91BE}" type="presParOf" srcId="{E333A522-5CAF-4438-8DCF-5E3EA90685FB}" destId="{98E3FC34-54CA-47DC-8596-E7ED110E41E9}" srcOrd="1" destOrd="0" presId="urn:microsoft.com/office/officeart/2016/7/layout/LinearBlockProcessNumbered"/>
    <dgm:cxn modelId="{9309BFA4-E8A7-4737-A435-97C460467726}" type="presParOf" srcId="{E333A522-5CAF-4438-8DCF-5E3EA90685FB}" destId="{D0C9703C-DBDA-4A12-B2E1-A38E3E8E7E35}" srcOrd="2" destOrd="0" presId="urn:microsoft.com/office/officeart/2016/7/layout/LinearBlockProcessNumbered"/>
    <dgm:cxn modelId="{3CECD7E7-2436-4868-865A-D8AEA6179F10}" type="presParOf" srcId="{D0C9703C-DBDA-4A12-B2E1-A38E3E8E7E35}" destId="{A552E7A5-303C-4A79-A1FB-3F041ACFB98C}" srcOrd="0" destOrd="0" presId="urn:microsoft.com/office/officeart/2016/7/layout/LinearBlockProcessNumbered"/>
    <dgm:cxn modelId="{1F01DBE8-33E2-462B-A042-5209CB727E78}" type="presParOf" srcId="{D0C9703C-DBDA-4A12-B2E1-A38E3E8E7E35}" destId="{5E152767-F7D3-45B9-9E83-34EE4A150FB1}" srcOrd="1" destOrd="0" presId="urn:microsoft.com/office/officeart/2016/7/layout/LinearBlockProcessNumbered"/>
    <dgm:cxn modelId="{6037D752-C166-4ED9-8E1E-4D9A413C2527}" type="presParOf" srcId="{D0C9703C-DBDA-4A12-B2E1-A38E3E8E7E35}" destId="{271F1CCE-D0DB-46B3-AD39-AB12F29394F3}" srcOrd="2" destOrd="0" presId="urn:microsoft.com/office/officeart/2016/7/layout/LinearBlockProcessNumbered"/>
    <dgm:cxn modelId="{EFDE3BA1-FB2F-4DAC-A9EE-B240B12B07B9}" type="presParOf" srcId="{E333A522-5CAF-4438-8DCF-5E3EA90685FB}" destId="{677C6943-9CC4-4867-A987-C6E8138B00F4}" srcOrd="3" destOrd="0" presId="urn:microsoft.com/office/officeart/2016/7/layout/LinearBlockProcessNumbered"/>
    <dgm:cxn modelId="{D168E7D8-120E-4F7C-96ED-A2328691004A}" type="presParOf" srcId="{E333A522-5CAF-4438-8DCF-5E3EA90685FB}" destId="{FCC1F451-5571-46F7-8550-802CBADDDE66}" srcOrd="4" destOrd="0" presId="urn:microsoft.com/office/officeart/2016/7/layout/LinearBlockProcessNumbered"/>
    <dgm:cxn modelId="{7973DB50-0548-4D33-B95C-26A2B10F698C}" type="presParOf" srcId="{FCC1F451-5571-46F7-8550-802CBADDDE66}" destId="{C68E060B-CBCA-418D-8DFB-126CBD149DEA}" srcOrd="0" destOrd="0" presId="urn:microsoft.com/office/officeart/2016/7/layout/LinearBlockProcessNumbered"/>
    <dgm:cxn modelId="{9FBA7BF0-3AD3-472A-B48F-CBBEBD1BBF9C}" type="presParOf" srcId="{FCC1F451-5571-46F7-8550-802CBADDDE66}" destId="{7001A056-02B5-4B93-90B1-BDCC9B79BDB0}" srcOrd="1" destOrd="0" presId="urn:microsoft.com/office/officeart/2016/7/layout/LinearBlockProcessNumbered"/>
    <dgm:cxn modelId="{19EA0AE7-A966-493F-91EE-6340353E5FAD}" type="presParOf" srcId="{FCC1F451-5571-46F7-8550-802CBADDDE66}" destId="{E59620F1-0541-4C77-803E-77589015F21D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E68090-8FF7-49CD-8044-AAC12F928419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3A37E11-DEA8-416D-8943-4584F85BC215}">
      <dgm:prSet/>
      <dgm:spPr/>
      <dgm:t>
        <a:bodyPr/>
        <a:lstStyle/>
        <a:p>
          <a:r>
            <a:rPr lang="en-US"/>
            <a:t>Portable Eye-tracking system easily mounted on any moving chair.</a:t>
          </a:r>
        </a:p>
      </dgm:t>
    </dgm:pt>
    <dgm:pt modelId="{9A66E3D6-3D03-4804-9906-8EAD3683768B}" type="parTrans" cxnId="{B8F84644-4905-4035-9B16-87B2F927AFE9}">
      <dgm:prSet/>
      <dgm:spPr/>
      <dgm:t>
        <a:bodyPr/>
        <a:lstStyle/>
        <a:p>
          <a:endParaRPr lang="en-US"/>
        </a:p>
      </dgm:t>
    </dgm:pt>
    <dgm:pt modelId="{946FBA58-AA17-4BBE-9CD4-976EC83353F1}" type="sibTrans" cxnId="{B8F84644-4905-4035-9B16-87B2F927AFE9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74D77B1F-7A1E-4243-817C-991906164C24}">
      <dgm:prSet/>
      <dgm:spPr/>
      <dgm:t>
        <a:bodyPr/>
        <a:lstStyle/>
        <a:p>
          <a:r>
            <a:rPr lang="en-US"/>
            <a:t>Specialized software optimized for gaze interaction.</a:t>
          </a:r>
        </a:p>
      </dgm:t>
    </dgm:pt>
    <dgm:pt modelId="{F3DB1FC8-40D5-4D41-8F48-66A349F2A4AD}" type="parTrans" cxnId="{C73322AA-A960-4C83-BB6C-7CA614B2A2CA}">
      <dgm:prSet/>
      <dgm:spPr/>
      <dgm:t>
        <a:bodyPr/>
        <a:lstStyle/>
        <a:p>
          <a:endParaRPr lang="en-US"/>
        </a:p>
      </dgm:t>
    </dgm:pt>
    <dgm:pt modelId="{377FF0E8-939A-4037-932C-2C3586DD4BF9}" type="sibTrans" cxnId="{C73322AA-A960-4C83-BB6C-7CA614B2A2CA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47D6B640-9F45-45DB-8636-50188BE8ED3A}">
      <dgm:prSet/>
      <dgm:spPr/>
      <dgm:t>
        <a:bodyPr/>
        <a:lstStyle/>
        <a:p>
          <a:r>
            <a:rPr lang="en-US" dirty="0"/>
            <a:t>Real-time text to speech conversion.</a:t>
          </a:r>
        </a:p>
      </dgm:t>
    </dgm:pt>
    <dgm:pt modelId="{7929FCC4-8963-4F68-A242-834822743D0F}" type="parTrans" cxnId="{24898F60-79D9-4396-8B22-12930B48631E}">
      <dgm:prSet/>
      <dgm:spPr/>
      <dgm:t>
        <a:bodyPr/>
        <a:lstStyle/>
        <a:p>
          <a:endParaRPr lang="en-US"/>
        </a:p>
      </dgm:t>
    </dgm:pt>
    <dgm:pt modelId="{5626E692-CA6A-486F-B3AE-DBBD2B2985E2}" type="sibTrans" cxnId="{24898F60-79D9-4396-8B22-12930B48631E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96736E46-CC1F-483A-9E49-9EACE531CBF1}" type="pres">
      <dgm:prSet presAssocID="{96E68090-8FF7-49CD-8044-AAC12F928419}" presName="Name0" presStyleCnt="0">
        <dgm:presLayoutVars>
          <dgm:animLvl val="lvl"/>
          <dgm:resizeHandles val="exact"/>
        </dgm:presLayoutVars>
      </dgm:prSet>
      <dgm:spPr/>
    </dgm:pt>
    <dgm:pt modelId="{217E86DE-AC74-49BE-80E7-8A2789DD1777}" type="pres">
      <dgm:prSet presAssocID="{03A37E11-DEA8-416D-8943-4584F85BC215}" presName="compositeNode" presStyleCnt="0">
        <dgm:presLayoutVars>
          <dgm:bulletEnabled val="1"/>
        </dgm:presLayoutVars>
      </dgm:prSet>
      <dgm:spPr/>
    </dgm:pt>
    <dgm:pt modelId="{F820910B-4BB9-46D5-AFFA-E42BF31BBD0F}" type="pres">
      <dgm:prSet presAssocID="{03A37E11-DEA8-416D-8943-4584F85BC215}" presName="bgRect" presStyleLbl="alignNode1" presStyleIdx="0" presStyleCnt="3"/>
      <dgm:spPr/>
    </dgm:pt>
    <dgm:pt modelId="{485F2859-FB70-4BB3-A615-4A872D1C1D10}" type="pres">
      <dgm:prSet presAssocID="{946FBA58-AA17-4BBE-9CD4-976EC83353F1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81A8FD60-28CC-404F-97A6-CA6740484EB4}" type="pres">
      <dgm:prSet presAssocID="{03A37E11-DEA8-416D-8943-4584F85BC215}" presName="nodeRect" presStyleLbl="alignNode1" presStyleIdx="0" presStyleCnt="3">
        <dgm:presLayoutVars>
          <dgm:bulletEnabled val="1"/>
        </dgm:presLayoutVars>
      </dgm:prSet>
      <dgm:spPr/>
    </dgm:pt>
    <dgm:pt modelId="{9CAF9B8C-3E3F-45F0-9EB6-7C8612EA5550}" type="pres">
      <dgm:prSet presAssocID="{946FBA58-AA17-4BBE-9CD4-976EC83353F1}" presName="sibTrans" presStyleCnt="0"/>
      <dgm:spPr/>
    </dgm:pt>
    <dgm:pt modelId="{06713857-0451-40BD-A223-A42D0F7D477D}" type="pres">
      <dgm:prSet presAssocID="{74D77B1F-7A1E-4243-817C-991906164C24}" presName="compositeNode" presStyleCnt="0">
        <dgm:presLayoutVars>
          <dgm:bulletEnabled val="1"/>
        </dgm:presLayoutVars>
      </dgm:prSet>
      <dgm:spPr/>
    </dgm:pt>
    <dgm:pt modelId="{B0EF1B52-8A28-46C6-B667-C10D16F0F7E4}" type="pres">
      <dgm:prSet presAssocID="{74D77B1F-7A1E-4243-817C-991906164C24}" presName="bgRect" presStyleLbl="alignNode1" presStyleIdx="1" presStyleCnt="3"/>
      <dgm:spPr/>
    </dgm:pt>
    <dgm:pt modelId="{CE1E5079-2B8A-4E11-A0FA-AD0B914E484C}" type="pres">
      <dgm:prSet presAssocID="{377FF0E8-939A-4037-932C-2C3586DD4BF9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51201679-BFC9-4E41-989C-B10D637C4D71}" type="pres">
      <dgm:prSet presAssocID="{74D77B1F-7A1E-4243-817C-991906164C24}" presName="nodeRect" presStyleLbl="alignNode1" presStyleIdx="1" presStyleCnt="3">
        <dgm:presLayoutVars>
          <dgm:bulletEnabled val="1"/>
        </dgm:presLayoutVars>
      </dgm:prSet>
      <dgm:spPr/>
    </dgm:pt>
    <dgm:pt modelId="{3BB453A6-249D-4DE5-A848-269521DF43C7}" type="pres">
      <dgm:prSet presAssocID="{377FF0E8-939A-4037-932C-2C3586DD4BF9}" presName="sibTrans" presStyleCnt="0"/>
      <dgm:spPr/>
    </dgm:pt>
    <dgm:pt modelId="{CDEC481A-3A13-4187-8C3E-11C16599EFCD}" type="pres">
      <dgm:prSet presAssocID="{47D6B640-9F45-45DB-8636-50188BE8ED3A}" presName="compositeNode" presStyleCnt="0">
        <dgm:presLayoutVars>
          <dgm:bulletEnabled val="1"/>
        </dgm:presLayoutVars>
      </dgm:prSet>
      <dgm:spPr/>
    </dgm:pt>
    <dgm:pt modelId="{CAC6E83C-26A5-4CFA-A7AC-E72E436E948F}" type="pres">
      <dgm:prSet presAssocID="{47D6B640-9F45-45DB-8636-50188BE8ED3A}" presName="bgRect" presStyleLbl="alignNode1" presStyleIdx="2" presStyleCnt="3"/>
      <dgm:spPr/>
    </dgm:pt>
    <dgm:pt modelId="{21F80C18-AA62-4F00-9B2F-2820FBB2CCE3}" type="pres">
      <dgm:prSet presAssocID="{5626E692-CA6A-486F-B3AE-DBBD2B2985E2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A93AC4F0-2F9B-4D4B-8086-5DA18002B0BF}" type="pres">
      <dgm:prSet presAssocID="{47D6B640-9F45-45DB-8636-50188BE8ED3A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BF98930E-F524-4D6C-A861-60CAEE38C522}" type="presOf" srcId="{74D77B1F-7A1E-4243-817C-991906164C24}" destId="{B0EF1B52-8A28-46C6-B667-C10D16F0F7E4}" srcOrd="0" destOrd="0" presId="urn:microsoft.com/office/officeart/2016/7/layout/LinearBlockProcessNumbered"/>
    <dgm:cxn modelId="{FB45BB20-60EC-46D3-864D-ACE6B6C67F1D}" type="presOf" srcId="{377FF0E8-939A-4037-932C-2C3586DD4BF9}" destId="{CE1E5079-2B8A-4E11-A0FA-AD0B914E484C}" srcOrd="0" destOrd="0" presId="urn:microsoft.com/office/officeart/2016/7/layout/LinearBlockProcessNumbered"/>
    <dgm:cxn modelId="{24898F60-79D9-4396-8B22-12930B48631E}" srcId="{96E68090-8FF7-49CD-8044-AAC12F928419}" destId="{47D6B640-9F45-45DB-8636-50188BE8ED3A}" srcOrd="2" destOrd="0" parTransId="{7929FCC4-8963-4F68-A242-834822743D0F}" sibTransId="{5626E692-CA6A-486F-B3AE-DBBD2B2985E2}"/>
    <dgm:cxn modelId="{B8F84644-4905-4035-9B16-87B2F927AFE9}" srcId="{96E68090-8FF7-49CD-8044-AAC12F928419}" destId="{03A37E11-DEA8-416D-8943-4584F85BC215}" srcOrd="0" destOrd="0" parTransId="{9A66E3D6-3D03-4804-9906-8EAD3683768B}" sibTransId="{946FBA58-AA17-4BBE-9CD4-976EC83353F1}"/>
    <dgm:cxn modelId="{5B1FAA65-1F4B-45FD-9A5E-0464B65F7320}" type="presOf" srcId="{47D6B640-9F45-45DB-8636-50188BE8ED3A}" destId="{A93AC4F0-2F9B-4D4B-8086-5DA18002B0BF}" srcOrd="1" destOrd="0" presId="urn:microsoft.com/office/officeart/2016/7/layout/LinearBlockProcessNumbered"/>
    <dgm:cxn modelId="{BD415D4C-9E09-4409-869F-88B5627E63AF}" type="presOf" srcId="{47D6B640-9F45-45DB-8636-50188BE8ED3A}" destId="{CAC6E83C-26A5-4CFA-A7AC-E72E436E948F}" srcOrd="0" destOrd="0" presId="urn:microsoft.com/office/officeart/2016/7/layout/LinearBlockProcessNumbered"/>
    <dgm:cxn modelId="{63B62088-25AE-49BA-B0F6-2C85D46B3228}" type="presOf" srcId="{96E68090-8FF7-49CD-8044-AAC12F928419}" destId="{96736E46-CC1F-483A-9E49-9EACE531CBF1}" srcOrd="0" destOrd="0" presId="urn:microsoft.com/office/officeart/2016/7/layout/LinearBlockProcessNumbered"/>
    <dgm:cxn modelId="{91B58F8A-AF00-4EA1-AEDC-56717777960F}" type="presOf" srcId="{74D77B1F-7A1E-4243-817C-991906164C24}" destId="{51201679-BFC9-4E41-989C-B10D637C4D71}" srcOrd="1" destOrd="0" presId="urn:microsoft.com/office/officeart/2016/7/layout/LinearBlockProcessNumbered"/>
    <dgm:cxn modelId="{C73322AA-A960-4C83-BB6C-7CA614B2A2CA}" srcId="{96E68090-8FF7-49CD-8044-AAC12F928419}" destId="{74D77B1F-7A1E-4243-817C-991906164C24}" srcOrd="1" destOrd="0" parTransId="{F3DB1FC8-40D5-4D41-8F48-66A349F2A4AD}" sibTransId="{377FF0E8-939A-4037-932C-2C3586DD4BF9}"/>
    <dgm:cxn modelId="{0E8CF6B4-48A9-4984-94F3-EDF8F12E7E6A}" type="presOf" srcId="{946FBA58-AA17-4BBE-9CD4-976EC83353F1}" destId="{485F2859-FB70-4BB3-A615-4A872D1C1D10}" srcOrd="0" destOrd="0" presId="urn:microsoft.com/office/officeart/2016/7/layout/LinearBlockProcessNumbered"/>
    <dgm:cxn modelId="{116BC1D0-96C5-40AC-8188-3D4596EC523C}" type="presOf" srcId="{5626E692-CA6A-486F-B3AE-DBBD2B2985E2}" destId="{21F80C18-AA62-4F00-9B2F-2820FBB2CCE3}" srcOrd="0" destOrd="0" presId="urn:microsoft.com/office/officeart/2016/7/layout/LinearBlockProcessNumbered"/>
    <dgm:cxn modelId="{5CDC0EE7-9866-4041-A48F-34CA61219BE3}" type="presOf" srcId="{03A37E11-DEA8-416D-8943-4584F85BC215}" destId="{F820910B-4BB9-46D5-AFFA-E42BF31BBD0F}" srcOrd="0" destOrd="0" presId="urn:microsoft.com/office/officeart/2016/7/layout/LinearBlockProcessNumbered"/>
    <dgm:cxn modelId="{A2D82EE7-7C24-4F7B-A93D-37645F7D9549}" type="presOf" srcId="{03A37E11-DEA8-416D-8943-4584F85BC215}" destId="{81A8FD60-28CC-404F-97A6-CA6740484EB4}" srcOrd="1" destOrd="0" presId="urn:microsoft.com/office/officeart/2016/7/layout/LinearBlockProcessNumbered"/>
    <dgm:cxn modelId="{9119CF28-106F-4E6F-83F6-7B44A536784C}" type="presParOf" srcId="{96736E46-CC1F-483A-9E49-9EACE531CBF1}" destId="{217E86DE-AC74-49BE-80E7-8A2789DD1777}" srcOrd="0" destOrd="0" presId="urn:microsoft.com/office/officeart/2016/7/layout/LinearBlockProcessNumbered"/>
    <dgm:cxn modelId="{630B9E8C-5611-46BE-AD31-1D12147D8E7C}" type="presParOf" srcId="{217E86DE-AC74-49BE-80E7-8A2789DD1777}" destId="{F820910B-4BB9-46D5-AFFA-E42BF31BBD0F}" srcOrd="0" destOrd="0" presId="urn:microsoft.com/office/officeart/2016/7/layout/LinearBlockProcessNumbered"/>
    <dgm:cxn modelId="{7AD682B8-979A-43DE-B4C2-A73463A028CE}" type="presParOf" srcId="{217E86DE-AC74-49BE-80E7-8A2789DD1777}" destId="{485F2859-FB70-4BB3-A615-4A872D1C1D10}" srcOrd="1" destOrd="0" presId="urn:microsoft.com/office/officeart/2016/7/layout/LinearBlockProcessNumbered"/>
    <dgm:cxn modelId="{467C36F9-50A0-444E-9E1D-37312E5582B3}" type="presParOf" srcId="{217E86DE-AC74-49BE-80E7-8A2789DD1777}" destId="{81A8FD60-28CC-404F-97A6-CA6740484EB4}" srcOrd="2" destOrd="0" presId="urn:microsoft.com/office/officeart/2016/7/layout/LinearBlockProcessNumbered"/>
    <dgm:cxn modelId="{0D910605-8B3D-4323-A7D6-AE52C739011A}" type="presParOf" srcId="{96736E46-CC1F-483A-9E49-9EACE531CBF1}" destId="{9CAF9B8C-3E3F-45F0-9EB6-7C8612EA5550}" srcOrd="1" destOrd="0" presId="urn:microsoft.com/office/officeart/2016/7/layout/LinearBlockProcessNumbered"/>
    <dgm:cxn modelId="{FF4166A6-25C8-4F7D-B4EA-220D2E381E2F}" type="presParOf" srcId="{96736E46-CC1F-483A-9E49-9EACE531CBF1}" destId="{06713857-0451-40BD-A223-A42D0F7D477D}" srcOrd="2" destOrd="0" presId="urn:microsoft.com/office/officeart/2016/7/layout/LinearBlockProcessNumbered"/>
    <dgm:cxn modelId="{C98770C8-06E3-4D56-9303-9FAD2E370CA2}" type="presParOf" srcId="{06713857-0451-40BD-A223-A42D0F7D477D}" destId="{B0EF1B52-8A28-46C6-B667-C10D16F0F7E4}" srcOrd="0" destOrd="0" presId="urn:microsoft.com/office/officeart/2016/7/layout/LinearBlockProcessNumbered"/>
    <dgm:cxn modelId="{D4D3E7C0-A52A-40FB-8A08-4C8A77B43D4B}" type="presParOf" srcId="{06713857-0451-40BD-A223-A42D0F7D477D}" destId="{CE1E5079-2B8A-4E11-A0FA-AD0B914E484C}" srcOrd="1" destOrd="0" presId="urn:microsoft.com/office/officeart/2016/7/layout/LinearBlockProcessNumbered"/>
    <dgm:cxn modelId="{DB9719B2-9C9E-465F-8AAC-A34632B1BB0C}" type="presParOf" srcId="{06713857-0451-40BD-A223-A42D0F7D477D}" destId="{51201679-BFC9-4E41-989C-B10D637C4D71}" srcOrd="2" destOrd="0" presId="urn:microsoft.com/office/officeart/2016/7/layout/LinearBlockProcessNumbered"/>
    <dgm:cxn modelId="{F25743C9-2085-472C-BA8F-772FB023ABF6}" type="presParOf" srcId="{96736E46-CC1F-483A-9E49-9EACE531CBF1}" destId="{3BB453A6-249D-4DE5-A848-269521DF43C7}" srcOrd="3" destOrd="0" presId="urn:microsoft.com/office/officeart/2016/7/layout/LinearBlockProcessNumbered"/>
    <dgm:cxn modelId="{34AB742A-94C0-45E7-AAF1-8E243B88A6B8}" type="presParOf" srcId="{96736E46-CC1F-483A-9E49-9EACE531CBF1}" destId="{CDEC481A-3A13-4187-8C3E-11C16599EFCD}" srcOrd="4" destOrd="0" presId="urn:microsoft.com/office/officeart/2016/7/layout/LinearBlockProcessNumbered"/>
    <dgm:cxn modelId="{881D0CA5-5C8E-491A-A706-95834ADCFAC7}" type="presParOf" srcId="{CDEC481A-3A13-4187-8C3E-11C16599EFCD}" destId="{CAC6E83C-26A5-4CFA-A7AC-E72E436E948F}" srcOrd="0" destOrd="0" presId="urn:microsoft.com/office/officeart/2016/7/layout/LinearBlockProcessNumbered"/>
    <dgm:cxn modelId="{511994B7-F452-4BB8-AC34-B866A2DF7454}" type="presParOf" srcId="{CDEC481A-3A13-4187-8C3E-11C16599EFCD}" destId="{21F80C18-AA62-4F00-9B2F-2820FBB2CCE3}" srcOrd="1" destOrd="0" presId="urn:microsoft.com/office/officeart/2016/7/layout/LinearBlockProcessNumbered"/>
    <dgm:cxn modelId="{3BC62F71-529E-464C-B036-0B60AA113837}" type="presParOf" srcId="{CDEC481A-3A13-4187-8C3E-11C16599EFCD}" destId="{A93AC4F0-2F9B-4D4B-8086-5DA18002B0BF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2FCABC-9B8D-4D53-8852-E8D30CDFA8D2}">
      <dsp:nvSpPr>
        <dsp:cNvPr id="0" name=""/>
        <dsp:cNvSpPr/>
      </dsp:nvSpPr>
      <dsp:spPr>
        <a:xfrm>
          <a:off x="821" y="182441"/>
          <a:ext cx="3327201" cy="399264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0" rIns="32865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Fully disabled individuals (ALS, Paralysis, locked-in syndrome) lose the miracle of communication.</a:t>
          </a:r>
        </a:p>
      </dsp:txBody>
      <dsp:txXfrm>
        <a:off x="821" y="1779497"/>
        <a:ext cx="3327201" cy="2395585"/>
      </dsp:txXfrm>
    </dsp:sp>
    <dsp:sp modelId="{7E5090B8-78D0-47D5-84AE-99D506C1E932}">
      <dsp:nvSpPr>
        <dsp:cNvPr id="0" name=""/>
        <dsp:cNvSpPr/>
      </dsp:nvSpPr>
      <dsp:spPr>
        <a:xfrm>
          <a:off x="821" y="182441"/>
          <a:ext cx="3327201" cy="1597056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165100" rIns="32865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821" y="182441"/>
        <a:ext cx="3327201" cy="1597056"/>
      </dsp:txXfrm>
    </dsp:sp>
    <dsp:sp modelId="{A552E7A5-303C-4A79-A1FB-3F041ACFB98C}">
      <dsp:nvSpPr>
        <dsp:cNvPr id="0" name=""/>
        <dsp:cNvSpPr/>
      </dsp:nvSpPr>
      <dsp:spPr>
        <a:xfrm>
          <a:off x="3594199" y="182441"/>
          <a:ext cx="3327201" cy="3992641"/>
        </a:xfrm>
        <a:prstGeom prst="rect">
          <a:avLst/>
        </a:prstGeom>
        <a:solidFill>
          <a:schemeClr val="accent5">
            <a:hueOff val="8704932"/>
            <a:satOff val="3846"/>
            <a:lumOff val="-4216"/>
            <a:alphaOff val="0"/>
          </a:schemeClr>
        </a:solidFill>
        <a:ln w="12700" cap="flat" cmpd="sng" algn="ctr">
          <a:solidFill>
            <a:schemeClr val="accent5">
              <a:hueOff val="8704932"/>
              <a:satOff val="3846"/>
              <a:lumOff val="-421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0" rIns="32865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Existing solutions are often bulky and expensive.</a:t>
          </a:r>
        </a:p>
      </dsp:txBody>
      <dsp:txXfrm>
        <a:off x="3594199" y="1779497"/>
        <a:ext cx="3327201" cy="2395585"/>
      </dsp:txXfrm>
    </dsp:sp>
    <dsp:sp modelId="{5E152767-F7D3-45B9-9E83-34EE4A150FB1}">
      <dsp:nvSpPr>
        <dsp:cNvPr id="0" name=""/>
        <dsp:cNvSpPr/>
      </dsp:nvSpPr>
      <dsp:spPr>
        <a:xfrm>
          <a:off x="3594199" y="182441"/>
          <a:ext cx="3327201" cy="1597056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165100" rIns="32865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594199" y="182441"/>
        <a:ext cx="3327201" cy="1597056"/>
      </dsp:txXfrm>
    </dsp:sp>
    <dsp:sp modelId="{C68E060B-CBCA-418D-8DFB-126CBD149DEA}">
      <dsp:nvSpPr>
        <dsp:cNvPr id="0" name=""/>
        <dsp:cNvSpPr/>
      </dsp:nvSpPr>
      <dsp:spPr>
        <a:xfrm>
          <a:off x="7187576" y="182441"/>
          <a:ext cx="3327201" cy="3992641"/>
        </a:xfrm>
        <a:prstGeom prst="rect">
          <a:avLst/>
        </a:prstGeom>
        <a:solidFill>
          <a:schemeClr val="accent5">
            <a:hueOff val="17409864"/>
            <a:satOff val="7692"/>
            <a:lumOff val="-8432"/>
            <a:alphaOff val="0"/>
          </a:schemeClr>
        </a:solidFill>
        <a:ln w="12700" cap="flat" cmpd="sng" algn="ctr">
          <a:solidFill>
            <a:schemeClr val="accent5">
              <a:hueOff val="17409864"/>
              <a:satOff val="7692"/>
              <a:lumOff val="-843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0" rIns="32865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Limited access to affordable communication technology in Egypt.</a:t>
          </a:r>
        </a:p>
      </dsp:txBody>
      <dsp:txXfrm>
        <a:off x="7187576" y="1779497"/>
        <a:ext cx="3327201" cy="2395585"/>
      </dsp:txXfrm>
    </dsp:sp>
    <dsp:sp modelId="{7001A056-02B5-4B93-90B1-BDCC9B79BDB0}">
      <dsp:nvSpPr>
        <dsp:cNvPr id="0" name=""/>
        <dsp:cNvSpPr/>
      </dsp:nvSpPr>
      <dsp:spPr>
        <a:xfrm>
          <a:off x="7187576" y="182441"/>
          <a:ext cx="3327201" cy="1597056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654" tIns="165100" rIns="32865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187576" y="182441"/>
        <a:ext cx="3327201" cy="15970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20910B-4BB9-46D5-AFFA-E42BF31BBD0F}">
      <dsp:nvSpPr>
        <dsp:cNvPr id="0" name=""/>
        <dsp:cNvSpPr/>
      </dsp:nvSpPr>
      <dsp:spPr>
        <a:xfrm>
          <a:off x="820" y="0"/>
          <a:ext cx="3324308" cy="387694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0" rIns="32836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Portable Eye-tracking system easily mounted on any moving chair.</a:t>
          </a:r>
        </a:p>
      </dsp:txBody>
      <dsp:txXfrm>
        <a:off x="820" y="1550779"/>
        <a:ext cx="3324308" cy="2326168"/>
      </dsp:txXfrm>
    </dsp:sp>
    <dsp:sp modelId="{485F2859-FB70-4BB3-A615-4A872D1C1D10}">
      <dsp:nvSpPr>
        <dsp:cNvPr id="0" name=""/>
        <dsp:cNvSpPr/>
      </dsp:nvSpPr>
      <dsp:spPr>
        <a:xfrm>
          <a:off x="820" y="0"/>
          <a:ext cx="3324308" cy="155077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165100" rIns="32836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820" y="0"/>
        <a:ext cx="3324308" cy="1550779"/>
      </dsp:txXfrm>
    </dsp:sp>
    <dsp:sp modelId="{B0EF1B52-8A28-46C6-B667-C10D16F0F7E4}">
      <dsp:nvSpPr>
        <dsp:cNvPr id="0" name=""/>
        <dsp:cNvSpPr/>
      </dsp:nvSpPr>
      <dsp:spPr>
        <a:xfrm>
          <a:off x="3591073" y="0"/>
          <a:ext cx="3324308" cy="387694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0" rIns="32836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Specialized software optimized for gaze interaction.</a:t>
          </a:r>
        </a:p>
      </dsp:txBody>
      <dsp:txXfrm>
        <a:off x="3591073" y="1550779"/>
        <a:ext cx="3324308" cy="2326168"/>
      </dsp:txXfrm>
    </dsp:sp>
    <dsp:sp modelId="{CE1E5079-2B8A-4E11-A0FA-AD0B914E484C}">
      <dsp:nvSpPr>
        <dsp:cNvPr id="0" name=""/>
        <dsp:cNvSpPr/>
      </dsp:nvSpPr>
      <dsp:spPr>
        <a:xfrm>
          <a:off x="3591073" y="0"/>
          <a:ext cx="3324308" cy="155077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165100" rIns="32836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591073" y="0"/>
        <a:ext cx="3324308" cy="1550779"/>
      </dsp:txXfrm>
    </dsp:sp>
    <dsp:sp modelId="{CAC6E83C-26A5-4CFA-A7AC-E72E436E948F}">
      <dsp:nvSpPr>
        <dsp:cNvPr id="0" name=""/>
        <dsp:cNvSpPr/>
      </dsp:nvSpPr>
      <dsp:spPr>
        <a:xfrm>
          <a:off x="7181326" y="0"/>
          <a:ext cx="3324308" cy="387694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0" rIns="328368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Real-time text to speech conversion.</a:t>
          </a:r>
        </a:p>
      </dsp:txBody>
      <dsp:txXfrm>
        <a:off x="7181326" y="1550779"/>
        <a:ext cx="3324308" cy="2326168"/>
      </dsp:txXfrm>
    </dsp:sp>
    <dsp:sp modelId="{21F80C18-AA62-4F00-9B2F-2820FBB2CCE3}">
      <dsp:nvSpPr>
        <dsp:cNvPr id="0" name=""/>
        <dsp:cNvSpPr/>
      </dsp:nvSpPr>
      <dsp:spPr>
        <a:xfrm>
          <a:off x="7181326" y="0"/>
          <a:ext cx="3324308" cy="155077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28368" tIns="165100" rIns="328368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181326" y="0"/>
        <a:ext cx="3324308" cy="15507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350B40-E974-47BB-8D7E-BE29953C11B9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31E0C-278F-4526-B01D-38E14DE41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788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831E0C-278F-4526-B01D-38E14DE411E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204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2853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8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59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94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2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33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110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76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304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94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981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37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9" name="Rectangle 104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An app can detect COVID-19 – level 1 - News in Levels">
            <a:extLst>
              <a:ext uri="{FF2B5EF4-FFF2-40B4-BE49-F238E27FC236}">
                <a16:creationId xmlns:a16="http://schemas.microsoft.com/office/drawing/2014/main" id="{F8A7004D-110E-C07C-18F2-8676DDCA7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61" r="14639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0" name="Rectangle 1049">
            <a:extLst>
              <a:ext uri="{FF2B5EF4-FFF2-40B4-BE49-F238E27FC236}">
                <a16:creationId xmlns:a16="http://schemas.microsoft.com/office/drawing/2014/main" id="{A44CD100-6267-4E62-AA64-2182A3A6A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B6330-2C68-09D1-B2B9-A37753F22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EyeTalk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BA1878-D1C8-5801-FFA9-BF40832CB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r>
              <a:rPr lang="en-US" sz="2000" b="1">
                <a:solidFill>
                  <a:schemeClr val="bg1"/>
                </a:solidFill>
              </a:rPr>
              <a:t>An Accessible AAC Device Using Visual Speech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67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C115D4-0BAF-50F4-3FC0-624EDB3A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Challenges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9144"/>
          </a:xfrm>
          <a:prstGeom prst="rect">
            <a:avLst/>
          </a:prstGeom>
          <a:solidFill>
            <a:schemeClr val="tx1">
              <a:lumMod val="65000"/>
              <a:lumOff val="35000"/>
              <a:alpha val="30000"/>
            </a:schemeClr>
          </a:solidFill>
          <a:ln w="9525">
            <a:solidFill>
              <a:schemeClr val="tx1">
                <a:lumMod val="65000"/>
                <a:lumOff val="35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2DE47F-D3FC-6755-4DE2-35A9B9A5E1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5453796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3461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1D377EB-C9D2-4ED0-86A6-740A297E3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3E6B17-C74A-7D49-BBE5-8F03F202D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685800"/>
            <a:ext cx="10506456" cy="1157005"/>
          </a:xfrm>
        </p:spPr>
        <p:txBody>
          <a:bodyPr anchor="b">
            <a:normAutofit/>
          </a:bodyPr>
          <a:lstStyle/>
          <a:p>
            <a:r>
              <a:rPr lang="en-US" sz="4800"/>
              <a:t>Solution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66346BE-FDB4-4772-A696-0719490AB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093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958056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4D2F6031-3763-A0F3-22B2-DE52D5D2D1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4157866"/>
              </p:ext>
            </p:extLst>
          </p:nvPr>
        </p:nvGraphicFramePr>
        <p:xfrm>
          <a:off x="838200" y="2295252"/>
          <a:ext cx="10506456" cy="38769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5758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17517EF-BD4D-4055-BDB4-A322C5356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1E45DE-3DD6-6354-E208-65009D70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690" y="405575"/>
            <a:ext cx="6430414" cy="13716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Project Architecture / Block Diagram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BC7E2FC-102E-2C02-4218-D24AA58EA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4796" y="498698"/>
            <a:ext cx="2893382" cy="118535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1800"/>
              <a:t>The Project’s software is separated into three main blocks.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130604" y="1071836"/>
            <a:ext cx="1021458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042CE7-7F14-F670-6F39-14BD18888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974" y="2091095"/>
            <a:ext cx="10135516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761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31BF440-39FA-4087-84CC-2EEC0BBDA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computer chip with a ribbon&#10;&#10;AI-generated content may be incorrect.">
            <a:extLst>
              <a:ext uri="{FF2B5EF4-FFF2-40B4-BE49-F238E27FC236}">
                <a16:creationId xmlns:a16="http://schemas.microsoft.com/office/drawing/2014/main" id="{E35B2C27-5497-F3E7-54EB-71143932C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1026"/>
          <a:stretch>
            <a:fillRect/>
          </a:stretch>
        </p:blipFill>
        <p:spPr bwMode="auto"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Raspberry Pi 5">
            <a:extLst>
              <a:ext uri="{FF2B5EF4-FFF2-40B4-BE49-F238E27FC236}">
                <a16:creationId xmlns:a16="http://schemas.microsoft.com/office/drawing/2014/main" id="{D2B3EFCF-89D4-BF76-5243-685332FCD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30" r="-2" b="12995"/>
          <a:stretch>
            <a:fillRect/>
          </a:stretch>
        </p:blipFill>
        <p:spPr bwMode="auto"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F04E4CBA-303B-48BD-8451-C2701CB0E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61" name="Freeform: Shape 2060">
            <a:extLst>
              <a:ext uri="{FF2B5EF4-FFF2-40B4-BE49-F238E27FC236}">
                <a16:creationId xmlns:a16="http://schemas.microsoft.com/office/drawing/2014/main" id="{F6CA58B3-AFCC-4A40-9882-50D50808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0A4B8-084B-6BE5-B5C4-A8B5895F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243584"/>
          </a:xfrm>
        </p:spPr>
        <p:txBody>
          <a:bodyPr>
            <a:normAutofit/>
          </a:bodyPr>
          <a:lstStyle/>
          <a:p>
            <a:r>
              <a:rPr lang="en-US" sz="3400"/>
              <a:t>Hardware stack</a:t>
            </a:r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75C56826-D4E5-42ED-8529-079651CB30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52144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912" y="2185062"/>
            <a:ext cx="49834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EBAF6-921F-D6D9-2005-52A2392A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2512611"/>
            <a:ext cx="4832803" cy="3664351"/>
          </a:xfrm>
        </p:spPr>
        <p:txBody>
          <a:bodyPr>
            <a:normAutofit/>
          </a:bodyPr>
          <a:lstStyle/>
          <a:p>
            <a:r>
              <a:rPr lang="en-US" sz="1800" dirty="0"/>
              <a:t>Raspberry Pi 5 8GB (Possibility of a more power processing unit if need be).</a:t>
            </a:r>
          </a:p>
          <a:p>
            <a:r>
              <a:rPr lang="en-US" sz="1800" dirty="0"/>
              <a:t>IR Camera Module (With </a:t>
            </a:r>
            <a:r>
              <a:rPr lang="en-US" sz="1800" dirty="0" err="1"/>
              <a:t>NoIR</a:t>
            </a:r>
            <a:r>
              <a:rPr lang="en-US" sz="1800" dirty="0"/>
              <a:t> filter).</a:t>
            </a:r>
          </a:p>
          <a:p>
            <a:r>
              <a:rPr lang="en-US" sz="1800" dirty="0"/>
              <a:t>Infrared LEDs (For pupil detection).</a:t>
            </a:r>
          </a:p>
          <a:p>
            <a:r>
              <a:rPr lang="en-US" sz="1800" dirty="0"/>
              <a:t>Portable Power Bank.</a:t>
            </a:r>
          </a:p>
          <a:p>
            <a:r>
              <a:rPr lang="en-US" sz="1800" dirty="0"/>
              <a:t>3D-Printed Enclosure.</a:t>
            </a:r>
          </a:p>
          <a:p>
            <a:endParaRPr lang="en-US" sz="1800" dirty="0"/>
          </a:p>
          <a:p>
            <a:r>
              <a:rPr lang="en-US" sz="1800" dirty="0"/>
              <a:t>Total Cost: ~20000 to 30000 EGP</a:t>
            </a:r>
          </a:p>
        </p:txBody>
      </p:sp>
    </p:spTree>
    <p:extLst>
      <p:ext uri="{BB962C8B-B14F-4D97-AF65-F5344CB8AC3E}">
        <p14:creationId xmlns:p14="http://schemas.microsoft.com/office/powerpoint/2010/main" val="358962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91C55-05BF-3F1B-9FF4-896ED7BD7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dirty="0"/>
              <a:t>Software stack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171EA-AD57-A8B2-C155-287CE0A43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4149" y="932688"/>
            <a:ext cx="5916603" cy="4992624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900" dirty="0"/>
              <a:t>Core programming Language: Python 3</a:t>
            </a:r>
          </a:p>
          <a:p>
            <a:pPr>
              <a:lnSpc>
                <a:spcPct val="100000"/>
              </a:lnSpc>
            </a:pPr>
            <a:endParaRPr lang="en-US" sz="1900" dirty="0"/>
          </a:p>
          <a:p>
            <a:pPr>
              <a:lnSpc>
                <a:spcPct val="100000"/>
              </a:lnSpc>
            </a:pPr>
            <a:r>
              <a:rPr lang="en-US" sz="1900" dirty="0"/>
              <a:t>Sample core Applications/Libraries: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1. OpenCV (Computer vision)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2. </a:t>
            </a:r>
            <a:r>
              <a:rPr lang="en-US" sz="1900" dirty="0" err="1"/>
              <a:t>Dlib</a:t>
            </a:r>
            <a:r>
              <a:rPr lang="en-US" sz="1900" dirty="0"/>
              <a:t> (Facial landmark detection)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3. </a:t>
            </a:r>
            <a:r>
              <a:rPr lang="en-US" sz="1900" dirty="0" err="1"/>
              <a:t>PyQt</a:t>
            </a:r>
            <a:r>
              <a:rPr lang="en-US" sz="1900" dirty="0"/>
              <a:t>/</a:t>
            </a:r>
            <a:r>
              <a:rPr lang="en-US" sz="1900" dirty="0" err="1"/>
              <a:t>Tkinter</a:t>
            </a:r>
            <a:r>
              <a:rPr lang="en-US" sz="1900" dirty="0"/>
              <a:t> (User interface)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4. PyTTsx3 (Text-to-speech)</a:t>
            </a:r>
          </a:p>
          <a:p>
            <a:pPr>
              <a:lnSpc>
                <a:spcPct val="100000"/>
              </a:lnSpc>
            </a:pPr>
            <a:endParaRPr lang="en-US" sz="1900" dirty="0"/>
          </a:p>
          <a:p>
            <a:pPr>
              <a:lnSpc>
                <a:spcPct val="100000"/>
              </a:lnSpc>
            </a:pPr>
            <a:r>
              <a:rPr lang="en-US" sz="1900" dirty="0"/>
              <a:t>Additional Components: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1. Word prediction algorithms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2. Calibration systems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900" dirty="0"/>
              <a:t>3. Performance optimization</a:t>
            </a:r>
          </a:p>
        </p:txBody>
      </p:sp>
    </p:spTree>
    <p:extLst>
      <p:ext uri="{BB962C8B-B14F-4D97-AF65-F5344CB8AC3E}">
        <p14:creationId xmlns:p14="http://schemas.microsoft.com/office/powerpoint/2010/main" val="3221157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28E3505-36F5-47A9-A188-7C60ACBB9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Blue blocks and networks technology background">
            <a:extLst>
              <a:ext uri="{FF2B5EF4-FFF2-40B4-BE49-F238E27FC236}">
                <a16:creationId xmlns:a16="http://schemas.microsoft.com/office/drawing/2014/main" id="{C26D628E-11C6-81A8-E27D-63A2389F4D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217" r="45128" b="-446"/>
          <a:stretch>
            <a:fillRect/>
          </a:stretch>
        </p:blipFill>
        <p:spPr>
          <a:xfrm>
            <a:off x="3143213" y="10"/>
            <a:ext cx="4956582" cy="6857990"/>
          </a:xfrm>
          <a:custGeom>
            <a:avLst/>
            <a:gdLst/>
            <a:ahLst/>
            <a:cxnLst/>
            <a:rect l="l" t="t" r="r" b="b"/>
            <a:pathLst>
              <a:path w="4956582" h="6858000">
                <a:moveTo>
                  <a:pt x="0" y="0"/>
                </a:moveTo>
                <a:lnTo>
                  <a:pt x="4161807" y="0"/>
                </a:lnTo>
                <a:lnTo>
                  <a:pt x="4176560" y="27485"/>
                </a:lnTo>
                <a:cubicBezTo>
                  <a:pt x="4666464" y="986552"/>
                  <a:pt x="4956582" y="2177077"/>
                  <a:pt x="4956582" y="3466807"/>
                </a:cubicBezTo>
                <a:cubicBezTo>
                  <a:pt x="4956582" y="4657326"/>
                  <a:pt x="4709381" y="5763316"/>
                  <a:pt x="4286027" y="6680757"/>
                </a:cubicBezTo>
                <a:lnTo>
                  <a:pt x="4199937" y="6858000"/>
                </a:lnTo>
                <a:lnTo>
                  <a:pt x="53039" y="6858000"/>
                </a:lnTo>
                <a:lnTo>
                  <a:pt x="132047" y="6695338"/>
                </a:lnTo>
                <a:cubicBezTo>
                  <a:pt x="555401" y="5777898"/>
                  <a:pt x="802602" y="4671908"/>
                  <a:pt x="802602" y="3481388"/>
                </a:cubicBezTo>
                <a:cubicBezTo>
                  <a:pt x="802602" y="2191659"/>
                  <a:pt x="512484" y="1001134"/>
                  <a:pt x="22579" y="42066"/>
                </a:cubicBezTo>
                <a:close/>
              </a:path>
            </a:pathLst>
          </a:custGeom>
        </p:spPr>
      </p:pic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283B6091-C9A6-4C92-8315-2DE12015E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945815" cy="6858000"/>
          </a:xfrm>
          <a:custGeom>
            <a:avLst/>
            <a:gdLst>
              <a:gd name="connsiteX0" fmla="*/ 0 w 3945815"/>
              <a:gd name="connsiteY0" fmla="*/ 0 h 6858000"/>
              <a:gd name="connsiteX1" fmla="*/ 3138662 w 3945815"/>
              <a:gd name="connsiteY1" fmla="*/ 0 h 6858000"/>
              <a:gd name="connsiteX2" fmla="*/ 3275260 w 3945815"/>
              <a:gd name="connsiteY2" fmla="*/ 267438 h 6858000"/>
              <a:gd name="connsiteX3" fmla="*/ 3945815 w 3945815"/>
              <a:gd name="connsiteY3" fmla="*/ 3481388 h 6858000"/>
              <a:gd name="connsiteX4" fmla="*/ 3275260 w 3945815"/>
              <a:gd name="connsiteY4" fmla="*/ 6695338 h 6858000"/>
              <a:gd name="connsiteX5" fmla="*/ 3192177 w 3945815"/>
              <a:gd name="connsiteY5" fmla="*/ 6858000 h 6858000"/>
              <a:gd name="connsiteX6" fmla="*/ 0 w 394581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45815" h="6858000">
                <a:moveTo>
                  <a:pt x="0" y="0"/>
                </a:moveTo>
                <a:lnTo>
                  <a:pt x="3138662" y="0"/>
                </a:lnTo>
                <a:lnTo>
                  <a:pt x="3275260" y="267438"/>
                </a:lnTo>
                <a:cubicBezTo>
                  <a:pt x="3698614" y="1184879"/>
                  <a:pt x="3945815" y="2290869"/>
                  <a:pt x="3945815" y="3481388"/>
                </a:cubicBezTo>
                <a:cubicBezTo>
                  <a:pt x="3945815" y="4671908"/>
                  <a:pt x="3698614" y="5777898"/>
                  <a:pt x="3275260" y="6695338"/>
                </a:cubicBezTo>
                <a:lnTo>
                  <a:pt x="319217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CC6ACBBE-7216-419A-81B7-BD305A9FE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3936670" cy="6858000"/>
          </a:xfrm>
          <a:custGeom>
            <a:avLst/>
            <a:gdLst>
              <a:gd name="connsiteX0" fmla="*/ 0 w 3936670"/>
              <a:gd name="connsiteY0" fmla="*/ 0 h 6858000"/>
              <a:gd name="connsiteX1" fmla="*/ 3129517 w 3936670"/>
              <a:gd name="connsiteY1" fmla="*/ 0 h 6858000"/>
              <a:gd name="connsiteX2" fmla="*/ 3266115 w 3936670"/>
              <a:gd name="connsiteY2" fmla="*/ 267438 h 6858000"/>
              <a:gd name="connsiteX3" fmla="*/ 3936670 w 3936670"/>
              <a:gd name="connsiteY3" fmla="*/ 3481388 h 6858000"/>
              <a:gd name="connsiteX4" fmla="*/ 3266115 w 3936670"/>
              <a:gd name="connsiteY4" fmla="*/ 6695338 h 6858000"/>
              <a:gd name="connsiteX5" fmla="*/ 3183032 w 3936670"/>
              <a:gd name="connsiteY5" fmla="*/ 6858000 h 6858000"/>
              <a:gd name="connsiteX6" fmla="*/ 0 w 39366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36670" h="6858000">
                <a:moveTo>
                  <a:pt x="0" y="0"/>
                </a:moveTo>
                <a:lnTo>
                  <a:pt x="3129517" y="0"/>
                </a:lnTo>
                <a:lnTo>
                  <a:pt x="3266115" y="267438"/>
                </a:lnTo>
                <a:cubicBezTo>
                  <a:pt x="3689469" y="1184879"/>
                  <a:pt x="3936670" y="2290869"/>
                  <a:pt x="3936670" y="3481388"/>
                </a:cubicBezTo>
                <a:cubicBezTo>
                  <a:pt x="3936670" y="4671908"/>
                  <a:pt x="3689469" y="5777898"/>
                  <a:pt x="3266115" y="6695338"/>
                </a:cubicBezTo>
                <a:lnTo>
                  <a:pt x="3183032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536783-4A2E-E96A-7764-3554CF37C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2903843" cy="4526280"/>
          </a:xfrm>
        </p:spPr>
        <p:txBody>
          <a:bodyPr>
            <a:normAutofit/>
          </a:bodyPr>
          <a:lstStyle/>
          <a:p>
            <a:r>
              <a:rPr lang="en-US" sz="3200" dirty="0"/>
              <a:t>Project Roadmap (Gantt chart)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97476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91883-998D-0ADA-3762-75B9C9BDF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0101" y="932688"/>
            <a:ext cx="3150108" cy="4992624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dirty="0"/>
              <a:t>Phase 1: Foundation &amp; Research (4 weeks)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1. Technical research &amp; learning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2. System architecture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3. Component procurement</a:t>
            </a:r>
          </a:p>
          <a:p>
            <a:pPr>
              <a:lnSpc>
                <a:spcPct val="100000"/>
              </a:lnSpc>
            </a:pPr>
            <a:endParaRPr lang="en-US" sz="1200" dirty="0"/>
          </a:p>
          <a:p>
            <a:pPr>
              <a:lnSpc>
                <a:spcPct val="100000"/>
              </a:lnSpc>
            </a:pPr>
            <a:r>
              <a:rPr lang="en-US" sz="1200" dirty="0"/>
              <a:t>Phase 2: Core Development (4 weeks)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1. Gaze tracking alpha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2. Virtual keyboard MVP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3. Hardware prototype</a:t>
            </a:r>
          </a:p>
          <a:p>
            <a:pPr>
              <a:lnSpc>
                <a:spcPct val="100000"/>
              </a:lnSpc>
            </a:pPr>
            <a:endParaRPr lang="en-US" sz="1200" dirty="0"/>
          </a:p>
          <a:p>
            <a:pPr>
              <a:lnSpc>
                <a:spcPct val="100000"/>
              </a:lnSpc>
            </a:pPr>
            <a:r>
              <a:rPr lang="en-US" sz="1200" dirty="0"/>
              <a:t>Phase 3: Integration &amp; Polish (4 weeks)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1. System integration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2. Feature completion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3. Performance optimization</a:t>
            </a:r>
          </a:p>
          <a:p>
            <a:pPr>
              <a:lnSpc>
                <a:spcPct val="100000"/>
              </a:lnSpc>
            </a:pPr>
            <a:endParaRPr lang="en-US" sz="1200" dirty="0"/>
          </a:p>
          <a:p>
            <a:pPr>
              <a:lnSpc>
                <a:spcPct val="100000"/>
              </a:lnSpc>
            </a:pPr>
            <a:r>
              <a:rPr lang="en-US" sz="1200" dirty="0"/>
              <a:t>Phase 4: Testing &amp; Finalization (4 weeks)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1. User testing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2. Final documentation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200" dirty="0"/>
              <a:t>3. Project demonstration</a:t>
            </a:r>
          </a:p>
        </p:txBody>
      </p:sp>
    </p:spTree>
    <p:extLst>
      <p:ext uri="{BB962C8B-B14F-4D97-AF65-F5344CB8AC3E}">
        <p14:creationId xmlns:p14="http://schemas.microsoft.com/office/powerpoint/2010/main" val="4028549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E8A99-4408-B0F3-314C-B3F4C0493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5ED1B-E1B5-E6D1-F6C2-2FCC23E67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Developers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3F40DF-34C1-4F49-2D4D-11A6A75E2D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F5DEB-F33F-598D-EEAD-801DC767BE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AI Developers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101FDD-5E55-AF7B-A96B-6EDC732544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70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4B244-B1B8-DA84-E4D6-1C79FF76E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Learning &amp; Researching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FD45A-2260-68BB-151A-9DBC95E68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Developers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12009-11CA-8133-72DF-40A524F79C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Python 3.</a:t>
            </a:r>
          </a:p>
          <a:p>
            <a:r>
              <a:rPr lang="en-US" dirty="0" err="1"/>
              <a:t>PyQT</a:t>
            </a:r>
            <a:r>
              <a:rPr lang="en-US" dirty="0"/>
              <a:t> (core software development).</a:t>
            </a:r>
          </a:p>
          <a:p>
            <a:r>
              <a:rPr lang="en-US" dirty="0" err="1"/>
              <a:t>Pytts</a:t>
            </a:r>
            <a:r>
              <a:rPr lang="en-US" dirty="0"/>
              <a:t> and other related libraries.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A12570-D173-37EC-03E7-8B6C4DFCE9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AI Developers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7F03A2-8779-27C4-D446-336A26C21A7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Python 3.</a:t>
            </a:r>
          </a:p>
          <a:p>
            <a:r>
              <a:rPr lang="en-US" dirty="0"/>
              <a:t>Computer Vision (CNNs – Object Detection – Image Segmentation &amp; other Techniques).</a:t>
            </a:r>
          </a:p>
          <a:p>
            <a:r>
              <a:rPr lang="en-US" dirty="0"/>
              <a:t>OpenCV.</a:t>
            </a:r>
          </a:p>
        </p:txBody>
      </p:sp>
    </p:spTree>
    <p:extLst>
      <p:ext uri="{BB962C8B-B14F-4D97-AF65-F5344CB8AC3E}">
        <p14:creationId xmlns:p14="http://schemas.microsoft.com/office/powerpoint/2010/main" val="203540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4CE5841-C184-4A70-A609-5FE4A5078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67208-1574-1B7C-6E2D-10B72D49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66928"/>
            <a:ext cx="4068849" cy="5275943"/>
          </a:xfrm>
        </p:spPr>
        <p:txBody>
          <a:bodyPr anchor="t">
            <a:normAutofit/>
          </a:bodyPr>
          <a:lstStyle/>
          <a:p>
            <a:r>
              <a:rPr lang="en-US" dirty="0"/>
              <a:t>Expected outcomes &amp;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D0D6B-3422-7F54-FDA7-586A02728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2504" y="566927"/>
            <a:ext cx="5818248" cy="5275943"/>
          </a:xfrm>
        </p:spPr>
        <p:txBody>
          <a:bodyPr>
            <a:normAutofit/>
          </a:bodyPr>
          <a:lstStyle/>
          <a:p>
            <a:r>
              <a:rPr lang="en-US" sz="2000"/>
              <a:t>Technical Deliverables:</a:t>
            </a:r>
          </a:p>
          <a:p>
            <a:pPr marL="0" indent="0">
              <a:buNone/>
            </a:pPr>
            <a:r>
              <a:rPr lang="en-US" sz="2000"/>
              <a:t>1. Working eye-tracking prototype</a:t>
            </a:r>
          </a:p>
          <a:p>
            <a:pPr marL="0" indent="0">
              <a:buNone/>
            </a:pPr>
            <a:r>
              <a:rPr lang="en-US" sz="2000"/>
              <a:t>2. Optimized virtual keyboard software</a:t>
            </a:r>
          </a:p>
          <a:p>
            <a:pPr marL="0" indent="0">
              <a:buNone/>
            </a:pPr>
            <a:r>
              <a:rPr lang="en-US" sz="2000"/>
              <a:t>3. Portable hardware unit</a:t>
            </a:r>
          </a:p>
          <a:p>
            <a:pPr marL="0" indent="0">
              <a:buNone/>
            </a:pPr>
            <a:r>
              <a:rPr lang="en-US" sz="2000"/>
              <a:t>4. Comprehensive documentation</a:t>
            </a:r>
          </a:p>
          <a:p>
            <a:endParaRPr lang="en-US" sz="2000"/>
          </a:p>
          <a:p>
            <a:r>
              <a:rPr lang="en-US" sz="2000"/>
              <a:t>Social Impact:</a:t>
            </a:r>
          </a:p>
          <a:p>
            <a:pPr marL="0" indent="0">
              <a:buNone/>
            </a:pPr>
            <a:r>
              <a:rPr lang="en-US" sz="2000"/>
              <a:t>- Affordable communication solution</a:t>
            </a:r>
          </a:p>
          <a:p>
            <a:pPr marL="0" indent="0">
              <a:buNone/>
            </a:pPr>
            <a:r>
              <a:rPr lang="en-US" sz="2000"/>
              <a:t>- Open-source potential</a:t>
            </a:r>
          </a:p>
          <a:p>
            <a:pPr marL="0" indent="0">
              <a:buNone/>
            </a:pPr>
            <a:r>
              <a:rPr lang="en-US" sz="2000"/>
              <a:t>- Improved quality of life for users</a:t>
            </a:r>
          </a:p>
          <a:p>
            <a:pPr marL="0" indent="0">
              <a:buNone/>
            </a:pPr>
            <a:r>
              <a:rPr lang="en-US" sz="2000"/>
              <a:t>- Foundation for future enhancements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1AAA2C-FBBE-42AA-B869-31D524B76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937BBF-9326-4230-AB1B-F1795E350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16936" y="4000284"/>
            <a:ext cx="54864" cy="4206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7539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A0844D6-F81A-E387-19DA-0AEA7D5321A6}"/>
              </a:ext>
            </a:extLst>
          </p:cNvPr>
          <p:cNvSpPr/>
          <p:nvPr/>
        </p:nvSpPr>
        <p:spPr>
          <a:xfrm>
            <a:off x="3215230" y="2646369"/>
            <a:ext cx="5761539" cy="1268361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469458-955A-7BA9-888B-C84F779A2A17}"/>
              </a:ext>
            </a:extLst>
          </p:cNvPr>
          <p:cNvSpPr txBox="1"/>
          <p:nvPr/>
        </p:nvSpPr>
        <p:spPr>
          <a:xfrm>
            <a:off x="2941319" y="2818884"/>
            <a:ext cx="6309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002060"/>
                </a:solidFill>
              </a:rPr>
              <a:t>End of Lecture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9231F0-0846-0CAB-7DD5-8EEE72AF9C16}"/>
              </a:ext>
            </a:extLst>
          </p:cNvPr>
          <p:cNvSpPr txBox="1"/>
          <p:nvPr/>
        </p:nvSpPr>
        <p:spPr>
          <a:xfrm>
            <a:off x="2880769" y="4087245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92D05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2334840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397</Words>
  <Application>Microsoft Office PowerPoint</Application>
  <PresentationFormat>Widescreen</PresentationFormat>
  <Paragraphs>86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Avenir Next LT Pro</vt:lpstr>
      <vt:lpstr>Calibri</vt:lpstr>
      <vt:lpstr>AccentBoxVTI</vt:lpstr>
      <vt:lpstr>EyeTalk</vt:lpstr>
      <vt:lpstr>Challenges</vt:lpstr>
      <vt:lpstr>Solution</vt:lpstr>
      <vt:lpstr>Project Architecture / Block Diagram</vt:lpstr>
      <vt:lpstr>Hardware stack</vt:lpstr>
      <vt:lpstr>Software stack</vt:lpstr>
      <vt:lpstr>Project Roadmap (Gantt chart)</vt:lpstr>
      <vt:lpstr>Team structure</vt:lpstr>
      <vt:lpstr>Team Learning &amp; Researching Objectives</vt:lpstr>
      <vt:lpstr>Expected outcomes &amp;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eng.2021001</dc:creator>
  <cp:lastModifiedBy>eng.2021001</cp:lastModifiedBy>
  <cp:revision>5</cp:revision>
  <dcterms:created xsi:type="dcterms:W3CDTF">2025-10-29T15:05:51Z</dcterms:created>
  <dcterms:modified xsi:type="dcterms:W3CDTF">2025-10-30T19:09:55Z</dcterms:modified>
</cp:coreProperties>
</file>